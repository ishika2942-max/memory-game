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Canva Sans" panose="020B0604020202020204" charset="0"/>
      <p:regular r:id="rId11"/>
    </p:embeddedFont>
    <p:embeddedFont>
      <p:font typeface="Canva Sans Bold" panose="020B0604020202020204" charset="0"/>
      <p:regular r:id="rId12"/>
    </p:embeddedFont>
    <p:embeddedFont>
      <p:font typeface="Canva Sans Bold Italics" panose="020B0604020202020204" charset="0"/>
      <p:regular r:id="rId13"/>
    </p:embeddedFont>
    <p:embeddedFont>
      <p:font typeface="Chromium One" panose="020B0604020202020204" charset="0"/>
      <p:regular r:id="rId14"/>
    </p:embeddedFont>
    <p:embeddedFont>
      <p:font typeface="Flow" panose="02000506050000020004" charset="0"/>
      <p:regular r:id="rId15"/>
    </p:embeddedFont>
    <p:embeddedFont>
      <p:font typeface="Flow Bold" panose="020B0604020202020204" charset="0"/>
      <p:regular r:id="rId16"/>
    </p:embeddedFont>
    <p:embeddedFont>
      <p:font typeface="Satisfy" panose="020B0604020202020204" charset="0"/>
      <p:regular r:id="rId17"/>
    </p:embeddedFont>
    <p:embeddedFont>
      <p:font typeface="Vast Shadow"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528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50" d="100"/>
          <a:sy n="50" d="100"/>
        </p:scale>
        <p:origin x="946"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6112" b="-41665"/>
            </a:stretch>
          </a:blipFill>
        </p:spPr>
        <p:txBody>
          <a:bodyPr/>
          <a:lstStyle/>
          <a:p>
            <a:pPr lvl="0" algn="ctr">
              <a:lnSpc>
                <a:spcPts val="9401"/>
              </a:lnSpc>
            </a:pPr>
            <a:r>
              <a:rPr lang="en-US" sz="4800" dirty="0" err="1">
                <a:solidFill>
                  <a:srgbClr val="CD5283"/>
                </a:solidFill>
                <a:latin typeface="Satisfy"/>
                <a:ea typeface="Satisfy"/>
                <a:cs typeface="Satisfy"/>
                <a:sym typeface="Satisfy"/>
              </a:rPr>
              <a:t>Subbmitted</a:t>
            </a:r>
            <a:r>
              <a:rPr lang="en-US" sz="4800" dirty="0">
                <a:solidFill>
                  <a:srgbClr val="CD5283"/>
                </a:solidFill>
                <a:latin typeface="Satisfy"/>
                <a:ea typeface="Satisfy"/>
                <a:cs typeface="Satisfy"/>
                <a:sym typeface="Satisfy"/>
              </a:rPr>
              <a:t> by: Ishika Agarwal</a:t>
            </a:r>
          </a:p>
        </p:txBody>
      </p:sp>
      <p:sp>
        <p:nvSpPr>
          <p:cNvPr id="3" name="TextBox 3"/>
          <p:cNvSpPr txBox="1"/>
          <p:nvPr/>
        </p:nvSpPr>
        <p:spPr>
          <a:xfrm>
            <a:off x="17259300" y="2626626"/>
            <a:ext cx="11115410" cy="1329595"/>
          </a:xfrm>
          <a:prstGeom prst="rect">
            <a:avLst/>
          </a:prstGeom>
        </p:spPr>
        <p:txBody>
          <a:bodyPr lIns="0" tIns="0" rIns="0" bIns="0" rtlCol="0" anchor="t">
            <a:spAutoFit/>
          </a:bodyPr>
          <a:lstStyle/>
          <a:p>
            <a:pPr marL="0" lvl="0" indent="0" algn="ctr">
              <a:lnSpc>
                <a:spcPts val="9401"/>
              </a:lnSpc>
            </a:pPr>
            <a:endParaRPr lang="en-US" sz="11060" dirty="0">
              <a:solidFill>
                <a:srgbClr val="CD5283"/>
              </a:solidFill>
              <a:latin typeface="Satisfy"/>
              <a:ea typeface="Satisfy"/>
              <a:cs typeface="Satisfy"/>
              <a:sym typeface="Satisfy"/>
            </a:endParaRPr>
          </a:p>
        </p:txBody>
      </p:sp>
      <p:sp>
        <p:nvSpPr>
          <p:cNvPr id="4" name="TextBox 4"/>
          <p:cNvSpPr txBox="1"/>
          <p:nvPr/>
        </p:nvSpPr>
        <p:spPr>
          <a:xfrm>
            <a:off x="-3003662" y="5723747"/>
            <a:ext cx="17565139" cy="1900243"/>
          </a:xfrm>
          <a:prstGeom prst="rect">
            <a:avLst/>
          </a:prstGeom>
        </p:spPr>
        <p:txBody>
          <a:bodyPr lIns="0" tIns="0" rIns="0" bIns="0" rtlCol="0" anchor="t">
            <a:spAutoFit/>
          </a:bodyPr>
          <a:lstStyle/>
          <a:p>
            <a:pPr algn="ctr">
              <a:lnSpc>
                <a:spcPts val="15484"/>
              </a:lnSpc>
              <a:spcBef>
                <a:spcPct val="0"/>
              </a:spcBef>
            </a:pPr>
            <a:r>
              <a:rPr lang="en-US" sz="11060">
                <a:solidFill>
                  <a:srgbClr val="CD5283"/>
                </a:solidFill>
                <a:latin typeface="Satisfy"/>
                <a:ea typeface="Satisfy"/>
                <a:cs typeface="Satisfy"/>
                <a:sym typeface="Satisfy"/>
              </a:rPr>
              <a:t>PROJECT REPORT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EDEC"/>
        </a:solidFill>
        <a:effectLst/>
      </p:bgPr>
    </p:bg>
    <p:spTree>
      <p:nvGrpSpPr>
        <p:cNvPr id="1" name=""/>
        <p:cNvGrpSpPr/>
        <p:nvPr/>
      </p:nvGrpSpPr>
      <p:grpSpPr>
        <a:xfrm>
          <a:off x="0" y="0"/>
          <a:ext cx="0" cy="0"/>
          <a:chOff x="0" y="0"/>
          <a:chExt cx="0" cy="0"/>
        </a:xfrm>
      </p:grpSpPr>
      <p:sp>
        <p:nvSpPr>
          <p:cNvPr id="2" name="TextBox 2"/>
          <p:cNvSpPr txBox="1"/>
          <p:nvPr/>
        </p:nvSpPr>
        <p:spPr>
          <a:xfrm>
            <a:off x="0" y="3769035"/>
            <a:ext cx="18473286" cy="6707987"/>
          </a:xfrm>
          <a:prstGeom prst="rect">
            <a:avLst/>
          </a:prstGeom>
        </p:spPr>
        <p:txBody>
          <a:bodyPr lIns="0" tIns="0" rIns="0" bIns="0" rtlCol="0" anchor="t">
            <a:spAutoFit/>
          </a:bodyPr>
          <a:lstStyle/>
          <a:p>
            <a:pPr algn="ctr">
              <a:lnSpc>
                <a:spcPts val="5786"/>
              </a:lnSpc>
            </a:pPr>
            <a:r>
              <a:rPr lang="en-US" sz="4133">
                <a:solidFill>
                  <a:srgbClr val="000000"/>
                </a:solidFill>
                <a:latin typeface="Satisfy"/>
                <a:ea typeface="Satisfy"/>
                <a:cs typeface="Satisfy"/>
                <a:sym typeface="Satisfy"/>
              </a:rPr>
              <a:t>Human memory is important in daily decision-making and cognitive performance. Testing and improving one's memory through gamified applications has been on the rise, especially with the advent of simple programming libraries such as Pygame.</a:t>
            </a:r>
          </a:p>
          <a:p>
            <a:pPr algn="ctr">
              <a:lnSpc>
                <a:spcPts val="5786"/>
              </a:lnSpc>
            </a:pPr>
            <a:endParaRPr lang="en-US" sz="4133">
              <a:solidFill>
                <a:srgbClr val="000000"/>
              </a:solidFill>
              <a:latin typeface="Satisfy"/>
              <a:ea typeface="Satisfy"/>
              <a:cs typeface="Satisfy"/>
              <a:sym typeface="Satisfy"/>
            </a:endParaRPr>
          </a:p>
          <a:p>
            <a:pPr algn="ctr">
              <a:lnSpc>
                <a:spcPts val="5786"/>
              </a:lnSpc>
            </a:pPr>
            <a:r>
              <a:rPr lang="en-US" sz="4133">
                <a:solidFill>
                  <a:srgbClr val="000000"/>
                </a:solidFill>
                <a:latin typeface="Satisfy"/>
                <a:ea typeface="Satisfy"/>
                <a:cs typeface="Satisfy"/>
                <a:sym typeface="Satisfy"/>
              </a:rPr>
              <a:t>This is a Memory Challenge Game created in Python using the Pygame library. The user will view a series of generated digits on the screen, which the user must remember and enter correctly. Every level increases the number of digits that have to be memorized, therefore challenging more of the user's memory.</a:t>
            </a:r>
          </a:p>
          <a:p>
            <a:pPr algn="ctr">
              <a:lnSpc>
                <a:spcPts val="5786"/>
              </a:lnSpc>
            </a:pPr>
            <a:endParaRPr lang="en-US" sz="4133">
              <a:solidFill>
                <a:srgbClr val="000000"/>
              </a:solidFill>
              <a:latin typeface="Satisfy"/>
              <a:ea typeface="Satisfy"/>
              <a:cs typeface="Satisfy"/>
              <a:sym typeface="Satisfy"/>
            </a:endParaRPr>
          </a:p>
          <a:p>
            <a:pPr algn="ctr">
              <a:lnSpc>
                <a:spcPts val="1095"/>
              </a:lnSpc>
              <a:spcBef>
                <a:spcPct val="0"/>
              </a:spcBef>
            </a:pPr>
            <a:r>
              <a:rPr lang="en-US" sz="782">
                <a:solidFill>
                  <a:srgbClr val="000000"/>
                </a:solidFill>
                <a:latin typeface="Satisfy"/>
                <a:ea typeface="Satisfy"/>
                <a:cs typeface="Satisfy"/>
                <a:sym typeface="Satisfy"/>
              </a:rPr>
              <a:t>This showcases a project that utilizes Python's graphical capabilities, event handling, and sound systems in concert, while introducing key programming concepts such as loops, functions, lists, and user interaction.t</a:t>
            </a:r>
          </a:p>
        </p:txBody>
      </p:sp>
      <p:sp>
        <p:nvSpPr>
          <p:cNvPr id="3" name="TextBox 3"/>
          <p:cNvSpPr txBox="1"/>
          <p:nvPr/>
        </p:nvSpPr>
        <p:spPr>
          <a:xfrm>
            <a:off x="3354691" y="131931"/>
            <a:ext cx="11014967" cy="1900243"/>
          </a:xfrm>
          <a:prstGeom prst="rect">
            <a:avLst/>
          </a:prstGeom>
        </p:spPr>
        <p:txBody>
          <a:bodyPr lIns="0" tIns="0" rIns="0" bIns="0" rtlCol="0" anchor="t">
            <a:spAutoFit/>
          </a:bodyPr>
          <a:lstStyle/>
          <a:p>
            <a:pPr algn="ctr">
              <a:lnSpc>
                <a:spcPts val="15484"/>
              </a:lnSpc>
              <a:spcBef>
                <a:spcPct val="0"/>
              </a:spcBef>
            </a:pPr>
            <a:r>
              <a:rPr lang="en-US" sz="11060">
                <a:solidFill>
                  <a:srgbClr val="000000"/>
                </a:solidFill>
                <a:latin typeface="Satisfy"/>
                <a:ea typeface="Satisfy"/>
                <a:cs typeface="Satisfy"/>
                <a:sym typeface="Satisfy"/>
              </a:rPr>
              <a:t>.......Introduction.......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EDEC"/>
        </a:solidFill>
        <a:effectLst/>
      </p:bgPr>
    </p:bg>
    <p:spTree>
      <p:nvGrpSpPr>
        <p:cNvPr id="1" name=""/>
        <p:cNvGrpSpPr/>
        <p:nvPr/>
      </p:nvGrpSpPr>
      <p:grpSpPr>
        <a:xfrm>
          <a:off x="0" y="0"/>
          <a:ext cx="0" cy="0"/>
          <a:chOff x="0" y="0"/>
          <a:chExt cx="0" cy="0"/>
        </a:xfrm>
      </p:grpSpPr>
      <p:sp>
        <p:nvSpPr>
          <p:cNvPr id="2" name="TextBox 2"/>
          <p:cNvSpPr txBox="1"/>
          <p:nvPr/>
        </p:nvSpPr>
        <p:spPr>
          <a:xfrm>
            <a:off x="1193548" y="-266700"/>
            <a:ext cx="15900905" cy="2192988"/>
          </a:xfrm>
          <a:prstGeom prst="rect">
            <a:avLst/>
          </a:prstGeom>
        </p:spPr>
        <p:txBody>
          <a:bodyPr lIns="0" tIns="0" rIns="0" bIns="0" rtlCol="0" anchor="t">
            <a:spAutoFit/>
          </a:bodyPr>
          <a:lstStyle/>
          <a:p>
            <a:pPr algn="ctr">
              <a:lnSpc>
                <a:spcPts val="17724"/>
              </a:lnSpc>
              <a:spcBef>
                <a:spcPct val="0"/>
              </a:spcBef>
            </a:pPr>
            <a:r>
              <a:rPr lang="en-US" sz="12660">
                <a:solidFill>
                  <a:srgbClr val="000000"/>
                </a:solidFill>
                <a:latin typeface="Satisfy"/>
                <a:ea typeface="Satisfy"/>
                <a:cs typeface="Satisfy"/>
                <a:sym typeface="Satisfy"/>
              </a:rPr>
              <a:t>Problem Description</a:t>
            </a:r>
          </a:p>
        </p:txBody>
      </p:sp>
      <p:sp>
        <p:nvSpPr>
          <p:cNvPr id="3" name="TextBox 3"/>
          <p:cNvSpPr txBox="1"/>
          <p:nvPr/>
        </p:nvSpPr>
        <p:spPr>
          <a:xfrm>
            <a:off x="-13143844" y="2291873"/>
            <a:ext cx="45334162" cy="7995127"/>
          </a:xfrm>
          <a:prstGeom prst="rect">
            <a:avLst/>
          </a:prstGeom>
        </p:spPr>
        <p:txBody>
          <a:bodyPr lIns="0" tIns="0" rIns="0" bIns="0" rtlCol="0" anchor="t">
            <a:spAutoFit/>
          </a:bodyPr>
          <a:lstStyle/>
          <a:p>
            <a:pPr algn="ctr">
              <a:lnSpc>
                <a:spcPts val="4521"/>
              </a:lnSpc>
            </a:pPr>
            <a:r>
              <a:rPr lang="en-US" sz="3229">
                <a:solidFill>
                  <a:srgbClr val="000000"/>
                </a:solidFill>
                <a:latin typeface="Satisfy"/>
                <a:ea typeface="Satisfy"/>
                <a:cs typeface="Satisfy"/>
                <a:sym typeface="Satisfy"/>
              </a:rPr>
              <a:t>The challenge is to design a simple, yet engaging memory-based game using Python. It has to:</a:t>
            </a:r>
          </a:p>
          <a:p>
            <a:pPr algn="ctr">
              <a:lnSpc>
                <a:spcPts val="4521"/>
              </a:lnSpc>
            </a:pPr>
            <a:r>
              <a:rPr lang="en-US" sz="3229">
                <a:solidFill>
                  <a:srgbClr val="000000"/>
                </a:solidFill>
                <a:latin typeface="Satisfy"/>
                <a:ea typeface="Satisfy"/>
                <a:cs typeface="Satisfy"/>
                <a:sym typeface="Satisfy"/>
              </a:rPr>
              <a:t>Flash a sequence of numbers to the user for a brief period of time.</a:t>
            </a:r>
          </a:p>
          <a:p>
            <a:pPr algn="ctr">
              <a:lnSpc>
                <a:spcPts val="4592"/>
              </a:lnSpc>
            </a:pPr>
            <a:r>
              <a:rPr lang="en-US" sz="3280">
                <a:solidFill>
                  <a:srgbClr val="000000"/>
                </a:solidFill>
                <a:latin typeface="Satisfy"/>
                <a:ea typeface="Satisfy"/>
                <a:cs typeface="Satisfy"/>
                <a:sym typeface="Satisfy"/>
              </a:rPr>
              <a:t>Then, hide the sequence and prompt the player to enter the same digits.</a:t>
            </a:r>
          </a:p>
          <a:p>
            <a:pPr algn="ctr">
              <a:lnSpc>
                <a:spcPts val="4521"/>
              </a:lnSpc>
            </a:pPr>
            <a:r>
              <a:rPr lang="en-US" sz="3229">
                <a:solidFill>
                  <a:srgbClr val="000000"/>
                </a:solidFill>
                <a:latin typeface="Satisfy"/>
                <a:ea typeface="Satisfy"/>
                <a:cs typeface="Satisfy"/>
                <a:sym typeface="Satisfy"/>
              </a:rPr>
              <a:t>Validate correctness and automatically increase difficulty level.</a:t>
            </a:r>
          </a:p>
          <a:p>
            <a:pPr algn="ctr">
              <a:lnSpc>
                <a:spcPts val="4521"/>
              </a:lnSpc>
            </a:pPr>
            <a:r>
              <a:rPr lang="en-US" sz="3229">
                <a:solidFill>
                  <a:srgbClr val="000000"/>
                </a:solidFill>
                <a:latin typeface="Satisfy"/>
                <a:ea typeface="Satisfy"/>
                <a:cs typeface="Satisfy"/>
                <a:sym typeface="Satisfy"/>
              </a:rPr>
              <a:t>The game should end if the player enters an incorrect sequence.</a:t>
            </a:r>
          </a:p>
          <a:p>
            <a:pPr algn="ctr">
              <a:lnSpc>
                <a:spcPts val="4521"/>
              </a:lnSpc>
            </a:pPr>
            <a:r>
              <a:rPr lang="en-US" sz="3229">
                <a:solidFill>
                  <a:srgbClr val="000000"/>
                </a:solidFill>
                <a:latin typeface="Satisfy"/>
                <a:ea typeface="Satisfy"/>
                <a:cs typeface="Satisfy"/>
                <a:sym typeface="Satisfy"/>
              </a:rPr>
              <a:t>Show the achieved level and offer replay.</a:t>
            </a:r>
          </a:p>
          <a:p>
            <a:pPr algn="ctr">
              <a:lnSpc>
                <a:spcPts val="4521"/>
              </a:lnSpc>
            </a:pPr>
            <a:r>
              <a:rPr lang="en-US" sz="3229">
                <a:solidFill>
                  <a:srgbClr val="000000"/>
                </a:solidFill>
                <a:latin typeface="Satisfy"/>
                <a:ea typeface="Satisfy"/>
                <a:cs typeface="Satisfy"/>
                <a:sym typeface="Satisfy"/>
              </a:rPr>
              <a:t>Include attractive visuals and optional sound effects.</a:t>
            </a:r>
          </a:p>
          <a:p>
            <a:pPr algn="ctr">
              <a:lnSpc>
                <a:spcPts val="4521"/>
              </a:lnSpc>
            </a:pPr>
            <a:r>
              <a:rPr lang="en-US" sz="3229">
                <a:solidFill>
                  <a:srgbClr val="000000"/>
                </a:solidFill>
                <a:latin typeface="Satisfy"/>
                <a:ea typeface="Satisfy"/>
                <a:cs typeface="Satisfy"/>
                <a:sym typeface="Satisfy"/>
              </a:rPr>
              <a:t>This problem combines several factors in programming:</a:t>
            </a:r>
          </a:p>
          <a:p>
            <a:pPr algn="ctr">
              <a:lnSpc>
                <a:spcPts val="4521"/>
              </a:lnSpc>
            </a:pPr>
            <a:r>
              <a:rPr lang="en-US" sz="3229">
                <a:solidFill>
                  <a:srgbClr val="000000"/>
                </a:solidFill>
                <a:latin typeface="Satisfy"/>
                <a:ea typeface="Satisfy"/>
                <a:cs typeface="Satisfy"/>
                <a:sym typeface="Satisfy"/>
              </a:rPr>
              <a:t>Random number generation</a:t>
            </a:r>
          </a:p>
          <a:p>
            <a:pPr algn="ctr">
              <a:lnSpc>
                <a:spcPts val="4521"/>
              </a:lnSpc>
            </a:pPr>
            <a:r>
              <a:rPr lang="en-US" sz="3229">
                <a:solidFill>
                  <a:srgbClr val="000000"/>
                </a:solidFill>
                <a:latin typeface="Satisfy"/>
                <a:ea typeface="Satisfy"/>
                <a:cs typeface="Satisfy"/>
                <a:sym typeface="Satisfy"/>
              </a:rPr>
              <a:t>Timers and delays</a:t>
            </a:r>
          </a:p>
          <a:p>
            <a:pPr algn="ctr">
              <a:lnSpc>
                <a:spcPts val="4521"/>
              </a:lnSpc>
            </a:pPr>
            <a:r>
              <a:rPr lang="en-US" sz="3229">
                <a:solidFill>
                  <a:srgbClr val="000000"/>
                </a:solidFill>
                <a:latin typeface="Satisfy"/>
                <a:ea typeface="Satisfy"/>
                <a:cs typeface="Satisfy"/>
                <a:sym typeface="Satisfy"/>
              </a:rPr>
              <a:t>Event-driven programming</a:t>
            </a:r>
          </a:p>
          <a:p>
            <a:pPr algn="ctr">
              <a:lnSpc>
                <a:spcPts val="4521"/>
              </a:lnSpc>
            </a:pPr>
            <a:r>
              <a:rPr lang="en-US" sz="3229">
                <a:solidFill>
                  <a:srgbClr val="000000"/>
                </a:solidFill>
                <a:latin typeface="Satisfy"/>
                <a:ea typeface="Satisfy"/>
                <a:cs typeface="Satisfy"/>
                <a:sym typeface="Satisfy"/>
              </a:rPr>
              <a:t>GUI rendering</a:t>
            </a:r>
          </a:p>
          <a:p>
            <a:pPr algn="ctr">
              <a:lnSpc>
                <a:spcPts val="4521"/>
              </a:lnSpc>
            </a:pPr>
            <a:r>
              <a:rPr lang="en-US" sz="3229">
                <a:solidFill>
                  <a:srgbClr val="000000"/>
                </a:solidFill>
                <a:latin typeface="Satisfy"/>
                <a:ea typeface="Satisfy"/>
                <a:cs typeface="Satisfy"/>
                <a:sym typeface="Satisfy"/>
              </a:rPr>
              <a:t>Game loop handling</a:t>
            </a:r>
          </a:p>
          <a:p>
            <a:pPr algn="ctr">
              <a:lnSpc>
                <a:spcPts val="4521"/>
              </a:lnSpc>
              <a:spcBef>
                <a:spcPct val="0"/>
              </a:spcBef>
            </a:pPr>
            <a:r>
              <a:rPr lang="en-US" sz="3229">
                <a:solidFill>
                  <a:srgbClr val="000000"/>
                </a:solidFill>
                <a:latin typeface="Satisfy"/>
                <a:ea typeface="Satisfy"/>
                <a:cs typeface="Satisfy"/>
                <a:sym typeface="Satisfy"/>
              </a:rPr>
              <a:t>User feedback and scoringxt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EDEC"/>
        </a:solidFill>
        <a:effectLst/>
      </p:bgPr>
    </p:bg>
    <p:spTree>
      <p:nvGrpSpPr>
        <p:cNvPr id="1" name=""/>
        <p:cNvGrpSpPr/>
        <p:nvPr/>
      </p:nvGrpSpPr>
      <p:grpSpPr>
        <a:xfrm>
          <a:off x="0" y="0"/>
          <a:ext cx="0" cy="0"/>
          <a:chOff x="0" y="0"/>
          <a:chExt cx="0" cy="0"/>
        </a:xfrm>
      </p:grpSpPr>
      <p:sp>
        <p:nvSpPr>
          <p:cNvPr id="2" name="Freeform 2"/>
          <p:cNvSpPr/>
          <p:nvPr/>
        </p:nvSpPr>
        <p:spPr>
          <a:xfrm>
            <a:off x="4898211" y="1028700"/>
            <a:ext cx="11482078" cy="9110699"/>
          </a:xfrm>
          <a:custGeom>
            <a:avLst/>
            <a:gdLst/>
            <a:ahLst/>
            <a:cxnLst/>
            <a:rect l="l" t="t" r="r" b="b"/>
            <a:pathLst>
              <a:path w="11482078" h="9110699">
                <a:moveTo>
                  <a:pt x="0" y="0"/>
                </a:moveTo>
                <a:lnTo>
                  <a:pt x="11482078" y="0"/>
                </a:lnTo>
                <a:lnTo>
                  <a:pt x="11482078" y="9110699"/>
                </a:lnTo>
                <a:lnTo>
                  <a:pt x="0" y="9110699"/>
                </a:lnTo>
                <a:lnTo>
                  <a:pt x="0" y="0"/>
                </a:lnTo>
                <a:close/>
              </a:path>
            </a:pathLst>
          </a:custGeom>
          <a:blipFill>
            <a:blip r:embed="rId2"/>
            <a:stretch>
              <a:fillRect t="-17467" b="-8560"/>
            </a:stretch>
          </a:blipFill>
        </p:spPr>
        <p:txBody>
          <a:bodyPr/>
          <a:lstStyle/>
          <a:p>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EDEC"/>
        </a:solidFill>
        <a:effectLst/>
      </p:bgPr>
    </p:bg>
    <p:spTree>
      <p:nvGrpSpPr>
        <p:cNvPr id="1" name=""/>
        <p:cNvGrpSpPr/>
        <p:nvPr/>
      </p:nvGrpSpPr>
      <p:grpSpPr>
        <a:xfrm>
          <a:off x="0" y="0"/>
          <a:ext cx="0" cy="0"/>
          <a:chOff x="0" y="0"/>
          <a:chExt cx="0" cy="0"/>
        </a:xfrm>
      </p:grpSpPr>
      <p:grpSp>
        <p:nvGrpSpPr>
          <p:cNvPr id="2" name="Group 2"/>
          <p:cNvGrpSpPr/>
          <p:nvPr/>
        </p:nvGrpSpPr>
        <p:grpSpPr>
          <a:xfrm>
            <a:off x="751776" y="2513527"/>
            <a:ext cx="7485856" cy="3086100"/>
            <a:chOff x="0" y="0"/>
            <a:chExt cx="1971583" cy="812800"/>
          </a:xfrm>
        </p:grpSpPr>
        <p:sp>
          <p:nvSpPr>
            <p:cNvPr id="3" name="Freeform 3"/>
            <p:cNvSpPr/>
            <p:nvPr/>
          </p:nvSpPr>
          <p:spPr>
            <a:xfrm>
              <a:off x="0" y="0"/>
              <a:ext cx="1971583" cy="812800"/>
            </a:xfrm>
            <a:custGeom>
              <a:avLst/>
              <a:gdLst/>
              <a:ahLst/>
              <a:cxnLst/>
              <a:rect l="l" t="t" r="r" b="b"/>
              <a:pathLst>
                <a:path w="1971583" h="812800">
                  <a:moveTo>
                    <a:pt x="52745" y="0"/>
                  </a:moveTo>
                  <a:lnTo>
                    <a:pt x="1918839" y="0"/>
                  </a:lnTo>
                  <a:cubicBezTo>
                    <a:pt x="1932828" y="0"/>
                    <a:pt x="1946243" y="5557"/>
                    <a:pt x="1956135" y="15449"/>
                  </a:cubicBezTo>
                  <a:cubicBezTo>
                    <a:pt x="1966026" y="25340"/>
                    <a:pt x="1971583" y="38756"/>
                    <a:pt x="1971583" y="52745"/>
                  </a:cubicBezTo>
                  <a:lnTo>
                    <a:pt x="1971583" y="760055"/>
                  </a:lnTo>
                  <a:cubicBezTo>
                    <a:pt x="1971583" y="774044"/>
                    <a:pt x="1966026" y="787460"/>
                    <a:pt x="1956135" y="797351"/>
                  </a:cubicBezTo>
                  <a:cubicBezTo>
                    <a:pt x="1946243" y="807243"/>
                    <a:pt x="1932828" y="812800"/>
                    <a:pt x="1918839" y="812800"/>
                  </a:cubicBezTo>
                  <a:lnTo>
                    <a:pt x="52745" y="812800"/>
                  </a:lnTo>
                  <a:cubicBezTo>
                    <a:pt x="38756" y="812800"/>
                    <a:pt x="25340" y="807243"/>
                    <a:pt x="15449" y="797351"/>
                  </a:cubicBezTo>
                  <a:cubicBezTo>
                    <a:pt x="5557" y="787460"/>
                    <a:pt x="0" y="774044"/>
                    <a:pt x="0" y="760055"/>
                  </a:cubicBezTo>
                  <a:lnTo>
                    <a:pt x="0" y="52745"/>
                  </a:lnTo>
                  <a:cubicBezTo>
                    <a:pt x="0" y="38756"/>
                    <a:pt x="5557" y="25340"/>
                    <a:pt x="15449" y="15449"/>
                  </a:cubicBezTo>
                  <a:cubicBezTo>
                    <a:pt x="25340" y="5557"/>
                    <a:pt x="38756" y="0"/>
                    <a:pt x="52745" y="0"/>
                  </a:cubicBezTo>
                  <a:close/>
                </a:path>
              </a:pathLst>
            </a:custGeom>
            <a:gradFill rotWithShape="1">
              <a:gsLst>
                <a:gs pos="0">
                  <a:srgbClr val="FFF7AD">
                    <a:alpha val="100000"/>
                  </a:srgbClr>
                </a:gs>
                <a:gs pos="100000">
                  <a:srgbClr val="FFA9F9">
                    <a:alpha val="100000"/>
                  </a:srgbClr>
                </a:gs>
              </a:gsLst>
              <a:lin ang="0"/>
            </a:gradFill>
          </p:spPr>
          <p:txBody>
            <a:bodyPr/>
            <a:lstStyle/>
            <a:p>
              <a:endParaRPr lang="en-IN"/>
            </a:p>
          </p:txBody>
        </p:sp>
        <p:sp>
          <p:nvSpPr>
            <p:cNvPr id="4" name="TextBox 4"/>
            <p:cNvSpPr txBox="1"/>
            <p:nvPr/>
          </p:nvSpPr>
          <p:spPr>
            <a:xfrm>
              <a:off x="0" y="-38100"/>
              <a:ext cx="1971583" cy="850900"/>
            </a:xfrm>
            <a:prstGeom prst="rect">
              <a:avLst/>
            </a:prstGeom>
          </p:spPr>
          <p:txBody>
            <a:bodyPr lIns="50800" tIns="50800" rIns="50800" bIns="50800" rtlCol="0" anchor="ctr"/>
            <a:lstStyle/>
            <a:p>
              <a:pPr algn="ctr">
                <a:lnSpc>
                  <a:spcPts val="2659"/>
                </a:lnSpc>
              </a:pPr>
              <a:r>
                <a:rPr lang="en-US" sz="1899">
                  <a:solidFill>
                    <a:srgbClr val="000000"/>
                  </a:solidFill>
                  <a:latin typeface="Canva Sans"/>
                  <a:ea typeface="Canva Sans"/>
                  <a:cs typeface="Canva Sans"/>
                  <a:sym typeface="Canva Sans"/>
                </a:rPr>
                <a:t>  </a:t>
              </a:r>
            </a:p>
          </p:txBody>
        </p:sp>
      </p:grpSp>
      <p:grpSp>
        <p:nvGrpSpPr>
          <p:cNvPr id="5" name="Group 5"/>
          <p:cNvGrpSpPr/>
          <p:nvPr/>
        </p:nvGrpSpPr>
        <p:grpSpPr>
          <a:xfrm>
            <a:off x="8714927" y="6172200"/>
            <a:ext cx="8397914" cy="3454089"/>
            <a:chOff x="0" y="0"/>
            <a:chExt cx="2211796" cy="909719"/>
          </a:xfrm>
        </p:grpSpPr>
        <p:sp>
          <p:nvSpPr>
            <p:cNvPr id="6" name="Freeform 6"/>
            <p:cNvSpPr/>
            <p:nvPr/>
          </p:nvSpPr>
          <p:spPr>
            <a:xfrm>
              <a:off x="0" y="0"/>
              <a:ext cx="2211796" cy="909719"/>
            </a:xfrm>
            <a:custGeom>
              <a:avLst/>
              <a:gdLst/>
              <a:ahLst/>
              <a:cxnLst/>
              <a:rect l="l" t="t" r="r" b="b"/>
              <a:pathLst>
                <a:path w="2211796" h="909719">
                  <a:moveTo>
                    <a:pt x="47016" y="0"/>
                  </a:moveTo>
                  <a:lnTo>
                    <a:pt x="2164780" y="0"/>
                  </a:lnTo>
                  <a:cubicBezTo>
                    <a:pt x="2177249" y="0"/>
                    <a:pt x="2189208" y="4953"/>
                    <a:pt x="2198026" y="13771"/>
                  </a:cubicBezTo>
                  <a:cubicBezTo>
                    <a:pt x="2206843" y="22588"/>
                    <a:pt x="2211796" y="34547"/>
                    <a:pt x="2211796" y="47016"/>
                  </a:cubicBezTo>
                  <a:lnTo>
                    <a:pt x="2211796" y="862703"/>
                  </a:lnTo>
                  <a:cubicBezTo>
                    <a:pt x="2211796" y="875172"/>
                    <a:pt x="2206843" y="887131"/>
                    <a:pt x="2198026" y="895948"/>
                  </a:cubicBezTo>
                  <a:cubicBezTo>
                    <a:pt x="2189208" y="904765"/>
                    <a:pt x="2177249" y="909719"/>
                    <a:pt x="2164780" y="909719"/>
                  </a:cubicBezTo>
                  <a:lnTo>
                    <a:pt x="47016" y="909719"/>
                  </a:lnTo>
                  <a:cubicBezTo>
                    <a:pt x="34547" y="909719"/>
                    <a:pt x="22588" y="904765"/>
                    <a:pt x="13771" y="895948"/>
                  </a:cubicBezTo>
                  <a:cubicBezTo>
                    <a:pt x="4953" y="887131"/>
                    <a:pt x="0" y="875172"/>
                    <a:pt x="0" y="862703"/>
                  </a:cubicBezTo>
                  <a:lnTo>
                    <a:pt x="0" y="47016"/>
                  </a:lnTo>
                  <a:cubicBezTo>
                    <a:pt x="0" y="34547"/>
                    <a:pt x="4953" y="22588"/>
                    <a:pt x="13771" y="13771"/>
                  </a:cubicBezTo>
                  <a:cubicBezTo>
                    <a:pt x="22588" y="4953"/>
                    <a:pt x="34547" y="0"/>
                    <a:pt x="47016" y="0"/>
                  </a:cubicBezTo>
                  <a:close/>
                </a:path>
              </a:pathLst>
            </a:custGeom>
            <a:gradFill rotWithShape="1">
              <a:gsLst>
                <a:gs pos="0">
                  <a:srgbClr val="FFF7AD">
                    <a:alpha val="100000"/>
                  </a:srgbClr>
                </a:gs>
                <a:gs pos="100000">
                  <a:srgbClr val="FFA9F9">
                    <a:alpha val="100000"/>
                  </a:srgbClr>
                </a:gs>
              </a:gsLst>
              <a:lin ang="0"/>
            </a:gradFill>
          </p:spPr>
          <p:txBody>
            <a:bodyPr/>
            <a:lstStyle/>
            <a:p>
              <a:endParaRPr lang="en-IN"/>
            </a:p>
          </p:txBody>
        </p:sp>
        <p:sp>
          <p:nvSpPr>
            <p:cNvPr id="7" name="TextBox 7"/>
            <p:cNvSpPr txBox="1"/>
            <p:nvPr/>
          </p:nvSpPr>
          <p:spPr>
            <a:xfrm>
              <a:off x="0" y="-38100"/>
              <a:ext cx="2211796" cy="947819"/>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726935" y="6172200"/>
            <a:ext cx="7510696" cy="3454089"/>
            <a:chOff x="0" y="0"/>
            <a:chExt cx="1978126" cy="909719"/>
          </a:xfrm>
        </p:grpSpPr>
        <p:sp>
          <p:nvSpPr>
            <p:cNvPr id="9" name="Freeform 9"/>
            <p:cNvSpPr/>
            <p:nvPr/>
          </p:nvSpPr>
          <p:spPr>
            <a:xfrm>
              <a:off x="0" y="0"/>
              <a:ext cx="1978126" cy="909719"/>
            </a:xfrm>
            <a:custGeom>
              <a:avLst/>
              <a:gdLst/>
              <a:ahLst/>
              <a:cxnLst/>
              <a:rect l="l" t="t" r="r" b="b"/>
              <a:pathLst>
                <a:path w="1978126" h="909719">
                  <a:moveTo>
                    <a:pt x="52570" y="0"/>
                  </a:moveTo>
                  <a:lnTo>
                    <a:pt x="1925556" y="0"/>
                  </a:lnTo>
                  <a:cubicBezTo>
                    <a:pt x="1954589" y="0"/>
                    <a:pt x="1978126" y="23536"/>
                    <a:pt x="1978126" y="52570"/>
                  </a:cubicBezTo>
                  <a:lnTo>
                    <a:pt x="1978126" y="857149"/>
                  </a:lnTo>
                  <a:cubicBezTo>
                    <a:pt x="1978126" y="886182"/>
                    <a:pt x="1954589" y="909719"/>
                    <a:pt x="1925556" y="909719"/>
                  </a:cubicBezTo>
                  <a:lnTo>
                    <a:pt x="52570" y="909719"/>
                  </a:lnTo>
                  <a:cubicBezTo>
                    <a:pt x="38628" y="909719"/>
                    <a:pt x="25256" y="904180"/>
                    <a:pt x="15397" y="894321"/>
                  </a:cubicBezTo>
                  <a:cubicBezTo>
                    <a:pt x="5539" y="884463"/>
                    <a:pt x="0" y="871091"/>
                    <a:pt x="0" y="857149"/>
                  </a:cubicBezTo>
                  <a:lnTo>
                    <a:pt x="0" y="52570"/>
                  </a:lnTo>
                  <a:cubicBezTo>
                    <a:pt x="0" y="23536"/>
                    <a:pt x="23536" y="0"/>
                    <a:pt x="52570" y="0"/>
                  </a:cubicBezTo>
                  <a:close/>
                </a:path>
              </a:pathLst>
            </a:custGeom>
            <a:gradFill rotWithShape="1">
              <a:gsLst>
                <a:gs pos="0">
                  <a:srgbClr val="FFF7AD">
                    <a:alpha val="100000"/>
                  </a:srgbClr>
                </a:gs>
                <a:gs pos="100000">
                  <a:srgbClr val="FFA9F9">
                    <a:alpha val="100000"/>
                  </a:srgbClr>
                </a:gs>
              </a:gsLst>
              <a:lin ang="0"/>
            </a:gradFill>
          </p:spPr>
          <p:txBody>
            <a:bodyPr/>
            <a:lstStyle/>
            <a:p>
              <a:endParaRPr lang="en-IN"/>
            </a:p>
          </p:txBody>
        </p:sp>
        <p:sp>
          <p:nvSpPr>
            <p:cNvPr id="10" name="TextBox 10"/>
            <p:cNvSpPr txBox="1"/>
            <p:nvPr/>
          </p:nvSpPr>
          <p:spPr>
            <a:xfrm>
              <a:off x="0" y="-38100"/>
              <a:ext cx="1978126" cy="947819"/>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9144000" y="2358488"/>
            <a:ext cx="7968841" cy="3241138"/>
            <a:chOff x="0" y="0"/>
            <a:chExt cx="2098789" cy="853633"/>
          </a:xfrm>
        </p:grpSpPr>
        <p:sp>
          <p:nvSpPr>
            <p:cNvPr id="12" name="Freeform 12"/>
            <p:cNvSpPr/>
            <p:nvPr/>
          </p:nvSpPr>
          <p:spPr>
            <a:xfrm>
              <a:off x="0" y="0"/>
              <a:ext cx="2098789" cy="853633"/>
            </a:xfrm>
            <a:custGeom>
              <a:avLst/>
              <a:gdLst/>
              <a:ahLst/>
              <a:cxnLst/>
              <a:rect l="l" t="t" r="r" b="b"/>
              <a:pathLst>
                <a:path w="2098789" h="853633">
                  <a:moveTo>
                    <a:pt x="49548" y="0"/>
                  </a:moveTo>
                  <a:lnTo>
                    <a:pt x="2049242" y="0"/>
                  </a:lnTo>
                  <a:cubicBezTo>
                    <a:pt x="2062382" y="0"/>
                    <a:pt x="2074985" y="5220"/>
                    <a:pt x="2084277" y="14512"/>
                  </a:cubicBezTo>
                  <a:cubicBezTo>
                    <a:pt x="2093569" y="23804"/>
                    <a:pt x="2098789" y="36407"/>
                    <a:pt x="2098789" y="49548"/>
                  </a:cubicBezTo>
                  <a:lnTo>
                    <a:pt x="2098789" y="804085"/>
                  </a:lnTo>
                  <a:cubicBezTo>
                    <a:pt x="2098789" y="831450"/>
                    <a:pt x="2076606" y="853633"/>
                    <a:pt x="2049242" y="853633"/>
                  </a:cubicBezTo>
                  <a:lnTo>
                    <a:pt x="49548" y="853633"/>
                  </a:lnTo>
                  <a:cubicBezTo>
                    <a:pt x="36407" y="853633"/>
                    <a:pt x="23804" y="848413"/>
                    <a:pt x="14512" y="839121"/>
                  </a:cubicBezTo>
                  <a:cubicBezTo>
                    <a:pt x="5220" y="829829"/>
                    <a:pt x="0" y="817226"/>
                    <a:pt x="0" y="804085"/>
                  </a:cubicBezTo>
                  <a:lnTo>
                    <a:pt x="0" y="49548"/>
                  </a:lnTo>
                  <a:cubicBezTo>
                    <a:pt x="0" y="36407"/>
                    <a:pt x="5220" y="23804"/>
                    <a:pt x="14512" y="14512"/>
                  </a:cubicBezTo>
                  <a:cubicBezTo>
                    <a:pt x="23804" y="5220"/>
                    <a:pt x="36407" y="0"/>
                    <a:pt x="49548" y="0"/>
                  </a:cubicBezTo>
                  <a:close/>
                </a:path>
              </a:pathLst>
            </a:custGeom>
            <a:gradFill rotWithShape="1">
              <a:gsLst>
                <a:gs pos="0">
                  <a:srgbClr val="FFF7AD">
                    <a:alpha val="100000"/>
                  </a:srgbClr>
                </a:gs>
                <a:gs pos="100000">
                  <a:srgbClr val="FFA9F9">
                    <a:alpha val="100000"/>
                  </a:srgbClr>
                </a:gs>
              </a:gsLst>
              <a:lin ang="0"/>
            </a:gradFill>
          </p:spPr>
          <p:txBody>
            <a:bodyPr/>
            <a:lstStyle/>
            <a:p>
              <a:endParaRPr lang="en-IN"/>
            </a:p>
          </p:txBody>
        </p:sp>
        <p:sp>
          <p:nvSpPr>
            <p:cNvPr id="13" name="TextBox 13"/>
            <p:cNvSpPr txBox="1"/>
            <p:nvPr/>
          </p:nvSpPr>
          <p:spPr>
            <a:xfrm>
              <a:off x="0" y="-38100"/>
              <a:ext cx="2098789" cy="891733"/>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751776" y="2531352"/>
            <a:ext cx="7963151" cy="3302305"/>
          </a:xfrm>
          <a:prstGeom prst="rect">
            <a:avLst/>
          </a:prstGeom>
        </p:spPr>
        <p:txBody>
          <a:bodyPr lIns="0" tIns="0" rIns="0" bIns="0" rtlCol="0" anchor="t">
            <a:spAutoFit/>
          </a:bodyPr>
          <a:lstStyle/>
          <a:p>
            <a:pPr algn="ctr">
              <a:lnSpc>
                <a:spcPts val="4354"/>
              </a:lnSpc>
              <a:spcBef>
                <a:spcPct val="0"/>
              </a:spcBef>
            </a:pPr>
            <a:r>
              <a:rPr lang="en-US" sz="3110" b="1" i="1">
                <a:solidFill>
                  <a:srgbClr val="000000"/>
                </a:solidFill>
                <a:latin typeface="Canva Sans Bold Italics"/>
                <a:ea typeface="Canva Sans Bold Italics"/>
                <a:cs typeface="Canva Sans Bold Italics"/>
                <a:sym typeface="Canva Sans Bold Italics"/>
              </a:rPr>
              <a:t>STEP 01:</a:t>
            </a:r>
          </a:p>
          <a:p>
            <a:pPr algn="ctr">
              <a:lnSpc>
                <a:spcPts val="4354"/>
              </a:lnSpc>
              <a:spcBef>
                <a:spcPct val="0"/>
              </a:spcBef>
            </a:pPr>
            <a:r>
              <a:rPr lang="en-US" sz="3110" b="1">
                <a:solidFill>
                  <a:srgbClr val="000000"/>
                </a:solidFill>
                <a:latin typeface="Canva Sans Bold"/>
                <a:ea typeface="Canva Sans Bold"/>
                <a:cs typeface="Canva Sans Bold"/>
                <a:sym typeface="Canva Sans Bold"/>
              </a:rPr>
              <a:t>Initialize the Pygame Environment</a:t>
            </a:r>
          </a:p>
          <a:p>
            <a:pPr algn="ctr">
              <a:lnSpc>
                <a:spcPts val="4354"/>
              </a:lnSpc>
              <a:spcBef>
                <a:spcPct val="0"/>
              </a:spcBef>
            </a:pPr>
            <a:r>
              <a:rPr lang="en-US" sz="3110" b="1">
                <a:solidFill>
                  <a:srgbClr val="000000"/>
                </a:solidFill>
                <a:latin typeface="Canva Sans Bold"/>
                <a:ea typeface="Canva Sans Bold"/>
                <a:cs typeface="Canva Sans Bold"/>
                <a:sym typeface="Canva Sans Bold"/>
              </a:rPr>
              <a:t>Setup window size</a:t>
            </a:r>
          </a:p>
          <a:p>
            <a:pPr algn="ctr">
              <a:lnSpc>
                <a:spcPts val="4494"/>
              </a:lnSpc>
              <a:spcBef>
                <a:spcPct val="0"/>
              </a:spcBef>
            </a:pPr>
            <a:r>
              <a:rPr lang="en-US" sz="3210" b="1">
                <a:solidFill>
                  <a:srgbClr val="000000"/>
                </a:solidFill>
                <a:latin typeface="Canva Sans Bold"/>
                <a:ea typeface="Canva Sans Bold"/>
                <a:cs typeface="Canva Sans Bold"/>
                <a:sym typeface="Canva Sans Bold"/>
              </a:rPr>
              <a:t>Initialize fonts, colors, and clock</a:t>
            </a:r>
          </a:p>
          <a:p>
            <a:pPr algn="ctr">
              <a:lnSpc>
                <a:spcPts val="4354"/>
              </a:lnSpc>
              <a:spcBef>
                <a:spcPct val="0"/>
              </a:spcBef>
            </a:pPr>
            <a:r>
              <a:rPr lang="en-US" sz="3110" b="1">
                <a:solidFill>
                  <a:srgbClr val="000000"/>
                </a:solidFill>
                <a:latin typeface="Canva Sans Bold"/>
                <a:ea typeface="Canva Sans Bold"/>
                <a:cs typeface="Canva Sans Bold"/>
                <a:sym typeface="Canva Sans Bold"/>
              </a:rPr>
              <a:t>Load sounds</a:t>
            </a:r>
          </a:p>
          <a:p>
            <a:pPr algn="ctr">
              <a:lnSpc>
                <a:spcPts val="4354"/>
              </a:lnSpc>
              <a:spcBef>
                <a:spcPct val="0"/>
              </a:spcBef>
            </a:pPr>
            <a:endParaRPr lang="en-US" sz="3110" b="1">
              <a:solidFill>
                <a:srgbClr val="000000"/>
              </a:solidFill>
              <a:latin typeface="Canva Sans Bold"/>
              <a:ea typeface="Canva Sans Bold"/>
              <a:cs typeface="Canva Sans Bold"/>
              <a:sym typeface="Canva Sans Bold"/>
            </a:endParaRPr>
          </a:p>
        </p:txBody>
      </p:sp>
      <p:sp>
        <p:nvSpPr>
          <p:cNvPr id="15" name="TextBox 15"/>
          <p:cNvSpPr txBox="1"/>
          <p:nvPr/>
        </p:nvSpPr>
        <p:spPr>
          <a:xfrm>
            <a:off x="751776" y="6414681"/>
            <a:ext cx="7485856" cy="3381083"/>
          </a:xfrm>
          <a:prstGeom prst="rect">
            <a:avLst/>
          </a:prstGeom>
        </p:spPr>
        <p:txBody>
          <a:bodyPr lIns="0" tIns="0" rIns="0" bIns="0" rtlCol="0" anchor="t">
            <a:spAutoFit/>
          </a:bodyPr>
          <a:lstStyle/>
          <a:p>
            <a:pPr algn="ctr">
              <a:lnSpc>
                <a:spcPts val="5086"/>
              </a:lnSpc>
            </a:pPr>
            <a:r>
              <a:rPr lang="en-US" sz="3633" b="1" i="1">
                <a:solidFill>
                  <a:srgbClr val="000000"/>
                </a:solidFill>
                <a:latin typeface="Canva Sans Bold Italics"/>
                <a:ea typeface="Canva Sans Bold Italics"/>
                <a:cs typeface="Canva Sans Bold Italics"/>
                <a:sym typeface="Canva Sans Bold Italics"/>
              </a:rPr>
              <a:t>STEP 03:</a:t>
            </a:r>
          </a:p>
          <a:p>
            <a:pPr algn="ctr">
              <a:lnSpc>
                <a:spcPts val="4386"/>
              </a:lnSpc>
            </a:pPr>
            <a:r>
              <a:rPr lang="en-US" sz="3133" b="1">
                <a:solidFill>
                  <a:srgbClr val="000000"/>
                </a:solidFill>
                <a:latin typeface="Canva Sans Bold"/>
                <a:ea typeface="Canva Sans Bold"/>
                <a:cs typeface="Canva Sans Bold"/>
                <a:sym typeface="Canva Sans Bold"/>
              </a:rPr>
              <a:t>Game Loop for Multiple Levels</a:t>
            </a:r>
          </a:p>
          <a:p>
            <a:pPr algn="ctr">
              <a:lnSpc>
                <a:spcPts val="4386"/>
              </a:lnSpc>
            </a:pPr>
            <a:r>
              <a:rPr lang="en-US" sz="3133" b="1">
                <a:solidFill>
                  <a:srgbClr val="000000"/>
                </a:solidFill>
                <a:latin typeface="Canva Sans Bold"/>
                <a:ea typeface="Canva Sans Bold"/>
                <a:cs typeface="Canva Sans Bold"/>
                <a:sym typeface="Canva Sans Bold"/>
              </a:rPr>
              <a:t>Level starts with a sequence length of 4</a:t>
            </a:r>
          </a:p>
          <a:p>
            <a:pPr algn="ctr">
              <a:lnSpc>
                <a:spcPts val="4386"/>
              </a:lnSpc>
            </a:pPr>
            <a:r>
              <a:rPr lang="en-US" sz="3133" b="1">
                <a:solidFill>
                  <a:srgbClr val="000000"/>
                </a:solidFill>
                <a:latin typeface="Canva Sans Bold"/>
                <a:ea typeface="Canva Sans Bold"/>
                <a:cs typeface="Canva Sans Bold"/>
                <a:sym typeface="Canva Sans Bold"/>
              </a:rPr>
              <a:t>Sequence increases by 1 every level</a:t>
            </a:r>
          </a:p>
          <a:p>
            <a:pPr algn="ctr">
              <a:lnSpc>
                <a:spcPts val="4386"/>
              </a:lnSpc>
              <a:spcBef>
                <a:spcPct val="0"/>
              </a:spcBef>
            </a:pPr>
            <a:endParaRPr lang="en-US" sz="3133" b="1">
              <a:solidFill>
                <a:srgbClr val="000000"/>
              </a:solidFill>
              <a:latin typeface="Canva Sans Bold"/>
              <a:ea typeface="Canva Sans Bold"/>
              <a:cs typeface="Canva Sans Bold"/>
              <a:sym typeface="Canva Sans Bold"/>
            </a:endParaRPr>
          </a:p>
        </p:txBody>
      </p:sp>
      <p:sp>
        <p:nvSpPr>
          <p:cNvPr id="16" name="TextBox 16"/>
          <p:cNvSpPr txBox="1"/>
          <p:nvPr/>
        </p:nvSpPr>
        <p:spPr>
          <a:xfrm>
            <a:off x="7139421" y="6395631"/>
            <a:ext cx="11880742" cy="2644004"/>
          </a:xfrm>
          <a:prstGeom prst="rect">
            <a:avLst/>
          </a:prstGeom>
        </p:spPr>
        <p:txBody>
          <a:bodyPr lIns="0" tIns="0" rIns="0" bIns="0" rtlCol="0" anchor="t">
            <a:spAutoFit/>
          </a:bodyPr>
          <a:lstStyle/>
          <a:p>
            <a:pPr algn="ctr">
              <a:lnSpc>
                <a:spcPts val="6927"/>
              </a:lnSpc>
            </a:pPr>
            <a:r>
              <a:rPr lang="en-US" sz="4947" b="1" i="1">
                <a:solidFill>
                  <a:srgbClr val="000000"/>
                </a:solidFill>
                <a:latin typeface="Canva Sans Bold Italics"/>
                <a:ea typeface="Canva Sans Bold Italics"/>
                <a:cs typeface="Canva Sans Bold Italics"/>
                <a:sym typeface="Canva Sans Bold Italics"/>
              </a:rPr>
              <a:t>STEP 04:</a:t>
            </a:r>
          </a:p>
          <a:p>
            <a:pPr algn="ctr">
              <a:lnSpc>
                <a:spcPts val="4676"/>
              </a:lnSpc>
            </a:pPr>
            <a:r>
              <a:rPr lang="en-US" sz="3340" b="1">
                <a:solidFill>
                  <a:srgbClr val="000000"/>
                </a:solidFill>
                <a:latin typeface="Canva Sans Bold"/>
                <a:ea typeface="Canva Sans Bold"/>
                <a:cs typeface="Canva Sans Bold"/>
                <a:sym typeface="Canva Sans Bold"/>
              </a:rPr>
              <a:t>: Number Display Phase</a:t>
            </a:r>
          </a:p>
          <a:p>
            <a:pPr algn="ctr">
              <a:lnSpc>
                <a:spcPts val="4676"/>
              </a:lnSpc>
            </a:pPr>
            <a:r>
              <a:rPr lang="en-US" sz="3340" b="1">
                <a:solidFill>
                  <a:srgbClr val="000000"/>
                </a:solidFill>
                <a:latin typeface="Canva Sans Bold"/>
                <a:ea typeface="Canva Sans Bold"/>
                <a:cs typeface="Canva Sans Bold"/>
                <a:sym typeface="Canva Sans Bold"/>
              </a:rPr>
              <a:t>Boxes are filled with random digits</a:t>
            </a:r>
          </a:p>
          <a:p>
            <a:pPr algn="ctr">
              <a:lnSpc>
                <a:spcPts val="4676"/>
              </a:lnSpc>
              <a:spcBef>
                <a:spcPct val="0"/>
              </a:spcBef>
            </a:pPr>
            <a:r>
              <a:rPr lang="en-US" sz="3340" b="1">
                <a:solidFill>
                  <a:srgbClr val="000000"/>
                </a:solidFill>
                <a:latin typeface="Canva Sans Bold"/>
                <a:ea typeface="Canva Sans Bold"/>
                <a:cs typeface="Canva Sans Bold"/>
                <a:sym typeface="Canva Sans Bold"/>
              </a:rPr>
              <a:t>After 3 seconds they disappear</a:t>
            </a:r>
          </a:p>
        </p:txBody>
      </p:sp>
      <p:sp>
        <p:nvSpPr>
          <p:cNvPr id="17" name="TextBox 17"/>
          <p:cNvSpPr txBox="1"/>
          <p:nvPr/>
        </p:nvSpPr>
        <p:spPr>
          <a:xfrm>
            <a:off x="7947061" y="2518805"/>
            <a:ext cx="9933645" cy="2844305"/>
          </a:xfrm>
          <a:prstGeom prst="rect">
            <a:avLst/>
          </a:prstGeom>
        </p:spPr>
        <p:txBody>
          <a:bodyPr lIns="0" tIns="0" rIns="0" bIns="0" rtlCol="0" anchor="t">
            <a:spAutoFit/>
          </a:bodyPr>
          <a:lstStyle/>
          <a:p>
            <a:pPr algn="ctr">
              <a:lnSpc>
                <a:spcPts val="5466"/>
              </a:lnSpc>
            </a:pPr>
            <a:r>
              <a:rPr lang="en-US" sz="3904" b="1" i="1">
                <a:solidFill>
                  <a:srgbClr val="000000"/>
                </a:solidFill>
                <a:latin typeface="Canva Sans Bold Italics"/>
                <a:ea typeface="Canva Sans Bold Italics"/>
                <a:cs typeface="Canva Sans Bold Italics"/>
                <a:sym typeface="Canva Sans Bold Italics"/>
              </a:rPr>
              <a:t>Step 02:</a:t>
            </a:r>
          </a:p>
          <a:p>
            <a:pPr algn="ctr">
              <a:lnSpc>
                <a:spcPts val="5466"/>
              </a:lnSpc>
            </a:pPr>
            <a:r>
              <a:rPr lang="en-US" sz="3904" b="1">
                <a:solidFill>
                  <a:srgbClr val="000000"/>
                </a:solidFill>
                <a:latin typeface="Canva Sans Bold"/>
                <a:ea typeface="Canva Sans Bold"/>
                <a:cs typeface="Canva Sans Bold"/>
                <a:sym typeface="Canva Sans Bold"/>
              </a:rPr>
              <a:t> Show an Intro Screen</a:t>
            </a:r>
          </a:p>
          <a:p>
            <a:pPr algn="ctr">
              <a:lnSpc>
                <a:spcPts val="5466"/>
              </a:lnSpc>
            </a:pPr>
            <a:r>
              <a:rPr lang="en-US" sz="3904" b="1">
                <a:solidFill>
                  <a:srgbClr val="000000"/>
                </a:solidFill>
                <a:latin typeface="Canva Sans Bold"/>
                <a:ea typeface="Canva Sans Bold"/>
                <a:cs typeface="Canva Sans Bold"/>
                <a:sym typeface="Canva Sans Bold"/>
              </a:rPr>
              <a:t>Welcome message</a:t>
            </a:r>
          </a:p>
          <a:p>
            <a:pPr algn="ctr">
              <a:lnSpc>
                <a:spcPts val="6490"/>
              </a:lnSpc>
              <a:spcBef>
                <a:spcPct val="0"/>
              </a:spcBef>
            </a:pPr>
            <a:r>
              <a:rPr lang="en-US" sz="4636" b="1">
                <a:solidFill>
                  <a:srgbClr val="000000"/>
                </a:solidFill>
                <a:latin typeface="Canva Sans Bold"/>
                <a:ea typeface="Canva Sans Bold"/>
                <a:cs typeface="Canva Sans Bold"/>
                <a:sym typeface="Canva Sans Bold"/>
              </a:rPr>
              <a:t>Instruction to start</a:t>
            </a:r>
          </a:p>
        </p:txBody>
      </p:sp>
      <p:sp>
        <p:nvSpPr>
          <p:cNvPr id="18" name="TextBox 18"/>
          <p:cNvSpPr txBox="1"/>
          <p:nvPr/>
        </p:nvSpPr>
        <p:spPr>
          <a:xfrm>
            <a:off x="2529762" y="12824"/>
            <a:ext cx="13228476" cy="1831728"/>
          </a:xfrm>
          <a:prstGeom prst="rect">
            <a:avLst/>
          </a:prstGeom>
        </p:spPr>
        <p:txBody>
          <a:bodyPr lIns="0" tIns="0" rIns="0" bIns="0" rtlCol="0" anchor="t">
            <a:spAutoFit/>
          </a:bodyPr>
          <a:lstStyle/>
          <a:p>
            <a:pPr algn="ctr">
              <a:lnSpc>
                <a:spcPts val="15063"/>
              </a:lnSpc>
              <a:spcBef>
                <a:spcPct val="0"/>
              </a:spcBef>
            </a:pPr>
            <a:r>
              <a:rPr lang="en-US" sz="10759" b="1" u="sng">
                <a:solidFill>
                  <a:srgbClr val="000000"/>
                </a:solidFill>
                <a:latin typeface="Canva Sans Bold"/>
                <a:ea typeface="Canva Sans Bold"/>
                <a:cs typeface="Canva Sans Bold"/>
                <a:sym typeface="Canva Sans Bold"/>
              </a:rPr>
              <a:t>Proposed</a:t>
            </a:r>
            <a:r>
              <a:rPr lang="en-US" sz="10759" b="1">
                <a:solidFill>
                  <a:srgbClr val="000000"/>
                </a:solidFill>
                <a:latin typeface="Canva Sans Bold"/>
                <a:ea typeface="Canva Sans Bold"/>
                <a:cs typeface="Canva Sans Bold"/>
                <a:sym typeface="Canva Sans Bold"/>
              </a:rPr>
              <a:t> </a:t>
            </a:r>
            <a:r>
              <a:rPr lang="en-US" sz="10759" b="1" u="sng">
                <a:solidFill>
                  <a:srgbClr val="000000"/>
                </a:solidFill>
                <a:latin typeface="Canva Sans Bold"/>
                <a:ea typeface="Canva Sans Bold"/>
                <a:cs typeface="Canva Sans Bold"/>
                <a:sym typeface="Canva Sans Bold"/>
              </a:rPr>
              <a:t>Approach</a:t>
            </a:r>
          </a:p>
        </p:txBody>
      </p:sp>
      <p:sp>
        <p:nvSpPr>
          <p:cNvPr id="19" name="TextBox 19"/>
          <p:cNvSpPr txBox="1"/>
          <p:nvPr/>
        </p:nvSpPr>
        <p:spPr>
          <a:xfrm>
            <a:off x="8996436" y="5034904"/>
            <a:ext cx="295127" cy="198141"/>
          </a:xfrm>
          <a:prstGeom prst="rect">
            <a:avLst/>
          </a:prstGeom>
        </p:spPr>
        <p:txBody>
          <a:bodyPr lIns="0" tIns="0" rIns="0" bIns="0" rtlCol="0" anchor="t">
            <a:spAutoFit/>
          </a:bodyPr>
          <a:lstStyle/>
          <a:p>
            <a:pPr marL="0" lvl="0" indent="0" algn="ctr">
              <a:lnSpc>
                <a:spcPts val="1679"/>
              </a:lnSpc>
              <a:spcBef>
                <a:spcPct val="0"/>
              </a:spcBef>
            </a:pPr>
            <a:r>
              <a:rPr lang="en-US" sz="1200" u="none" strike="noStrike">
                <a:solidFill>
                  <a:srgbClr val="000000"/>
                </a:solidFill>
                <a:latin typeface="Flow"/>
                <a:ea typeface="Flow"/>
                <a:cs typeface="Flow"/>
                <a:sym typeface="Flow"/>
              </a:rPr>
              <a:t>Flow</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EDEC"/>
        </a:solidFill>
        <a:effectLst/>
      </p:bgPr>
    </p:bg>
    <p:spTree>
      <p:nvGrpSpPr>
        <p:cNvPr id="1" name=""/>
        <p:cNvGrpSpPr/>
        <p:nvPr/>
      </p:nvGrpSpPr>
      <p:grpSpPr>
        <a:xfrm>
          <a:off x="0" y="0"/>
          <a:ext cx="0" cy="0"/>
          <a:chOff x="0" y="0"/>
          <a:chExt cx="0" cy="0"/>
        </a:xfrm>
      </p:grpSpPr>
      <p:grpSp>
        <p:nvGrpSpPr>
          <p:cNvPr id="2" name="Group 2"/>
          <p:cNvGrpSpPr/>
          <p:nvPr/>
        </p:nvGrpSpPr>
        <p:grpSpPr>
          <a:xfrm>
            <a:off x="751776" y="2513527"/>
            <a:ext cx="7485856" cy="3086100"/>
            <a:chOff x="0" y="0"/>
            <a:chExt cx="1971583" cy="812800"/>
          </a:xfrm>
        </p:grpSpPr>
        <p:sp>
          <p:nvSpPr>
            <p:cNvPr id="3" name="Freeform 3"/>
            <p:cNvSpPr/>
            <p:nvPr/>
          </p:nvSpPr>
          <p:spPr>
            <a:xfrm>
              <a:off x="0" y="0"/>
              <a:ext cx="1971583" cy="812800"/>
            </a:xfrm>
            <a:custGeom>
              <a:avLst/>
              <a:gdLst/>
              <a:ahLst/>
              <a:cxnLst/>
              <a:rect l="l" t="t" r="r" b="b"/>
              <a:pathLst>
                <a:path w="1971583" h="812800">
                  <a:moveTo>
                    <a:pt x="52745" y="0"/>
                  </a:moveTo>
                  <a:lnTo>
                    <a:pt x="1918839" y="0"/>
                  </a:lnTo>
                  <a:cubicBezTo>
                    <a:pt x="1932828" y="0"/>
                    <a:pt x="1946243" y="5557"/>
                    <a:pt x="1956135" y="15449"/>
                  </a:cubicBezTo>
                  <a:cubicBezTo>
                    <a:pt x="1966026" y="25340"/>
                    <a:pt x="1971583" y="38756"/>
                    <a:pt x="1971583" y="52745"/>
                  </a:cubicBezTo>
                  <a:lnTo>
                    <a:pt x="1971583" y="760055"/>
                  </a:lnTo>
                  <a:cubicBezTo>
                    <a:pt x="1971583" y="774044"/>
                    <a:pt x="1966026" y="787460"/>
                    <a:pt x="1956135" y="797351"/>
                  </a:cubicBezTo>
                  <a:cubicBezTo>
                    <a:pt x="1946243" y="807243"/>
                    <a:pt x="1932828" y="812800"/>
                    <a:pt x="1918839" y="812800"/>
                  </a:cubicBezTo>
                  <a:lnTo>
                    <a:pt x="52745" y="812800"/>
                  </a:lnTo>
                  <a:cubicBezTo>
                    <a:pt x="38756" y="812800"/>
                    <a:pt x="25340" y="807243"/>
                    <a:pt x="15449" y="797351"/>
                  </a:cubicBezTo>
                  <a:cubicBezTo>
                    <a:pt x="5557" y="787460"/>
                    <a:pt x="0" y="774044"/>
                    <a:pt x="0" y="760055"/>
                  </a:cubicBezTo>
                  <a:lnTo>
                    <a:pt x="0" y="52745"/>
                  </a:lnTo>
                  <a:cubicBezTo>
                    <a:pt x="0" y="38756"/>
                    <a:pt x="5557" y="25340"/>
                    <a:pt x="15449" y="15449"/>
                  </a:cubicBezTo>
                  <a:cubicBezTo>
                    <a:pt x="25340" y="5557"/>
                    <a:pt x="38756" y="0"/>
                    <a:pt x="52745" y="0"/>
                  </a:cubicBezTo>
                  <a:close/>
                </a:path>
              </a:pathLst>
            </a:custGeom>
            <a:gradFill rotWithShape="1">
              <a:gsLst>
                <a:gs pos="0">
                  <a:srgbClr val="FFF7AD">
                    <a:alpha val="100000"/>
                  </a:srgbClr>
                </a:gs>
                <a:gs pos="100000">
                  <a:srgbClr val="FFA9F9">
                    <a:alpha val="100000"/>
                  </a:srgbClr>
                </a:gs>
              </a:gsLst>
              <a:lin ang="0"/>
            </a:gradFill>
          </p:spPr>
          <p:txBody>
            <a:bodyPr/>
            <a:lstStyle/>
            <a:p>
              <a:endParaRPr lang="en-IN"/>
            </a:p>
          </p:txBody>
        </p:sp>
        <p:sp>
          <p:nvSpPr>
            <p:cNvPr id="4" name="TextBox 4"/>
            <p:cNvSpPr txBox="1"/>
            <p:nvPr/>
          </p:nvSpPr>
          <p:spPr>
            <a:xfrm>
              <a:off x="0" y="-38100"/>
              <a:ext cx="1971583" cy="850900"/>
            </a:xfrm>
            <a:prstGeom prst="rect">
              <a:avLst/>
            </a:prstGeom>
          </p:spPr>
          <p:txBody>
            <a:bodyPr lIns="50800" tIns="50800" rIns="50800" bIns="50800" rtlCol="0" anchor="ctr"/>
            <a:lstStyle/>
            <a:p>
              <a:pPr algn="ctr">
                <a:lnSpc>
                  <a:spcPts val="2659"/>
                </a:lnSpc>
              </a:pPr>
              <a:r>
                <a:rPr lang="en-US" sz="1899">
                  <a:solidFill>
                    <a:srgbClr val="000000"/>
                  </a:solidFill>
                  <a:latin typeface="Canva Sans"/>
                  <a:ea typeface="Canva Sans"/>
                  <a:cs typeface="Canva Sans"/>
                  <a:sym typeface="Canva Sans"/>
                </a:rPr>
                <a:t>  </a:t>
              </a:r>
            </a:p>
          </p:txBody>
        </p:sp>
      </p:grpSp>
      <p:grpSp>
        <p:nvGrpSpPr>
          <p:cNvPr id="5" name="Group 5"/>
          <p:cNvGrpSpPr/>
          <p:nvPr/>
        </p:nvGrpSpPr>
        <p:grpSpPr>
          <a:xfrm>
            <a:off x="8714927" y="6172200"/>
            <a:ext cx="8397914" cy="3454089"/>
            <a:chOff x="0" y="0"/>
            <a:chExt cx="2211796" cy="909719"/>
          </a:xfrm>
        </p:grpSpPr>
        <p:sp>
          <p:nvSpPr>
            <p:cNvPr id="6" name="Freeform 6"/>
            <p:cNvSpPr/>
            <p:nvPr/>
          </p:nvSpPr>
          <p:spPr>
            <a:xfrm>
              <a:off x="0" y="0"/>
              <a:ext cx="2211796" cy="909719"/>
            </a:xfrm>
            <a:custGeom>
              <a:avLst/>
              <a:gdLst/>
              <a:ahLst/>
              <a:cxnLst/>
              <a:rect l="l" t="t" r="r" b="b"/>
              <a:pathLst>
                <a:path w="2211796" h="909719">
                  <a:moveTo>
                    <a:pt x="47016" y="0"/>
                  </a:moveTo>
                  <a:lnTo>
                    <a:pt x="2164780" y="0"/>
                  </a:lnTo>
                  <a:cubicBezTo>
                    <a:pt x="2177249" y="0"/>
                    <a:pt x="2189208" y="4953"/>
                    <a:pt x="2198026" y="13771"/>
                  </a:cubicBezTo>
                  <a:cubicBezTo>
                    <a:pt x="2206843" y="22588"/>
                    <a:pt x="2211796" y="34547"/>
                    <a:pt x="2211796" y="47016"/>
                  </a:cubicBezTo>
                  <a:lnTo>
                    <a:pt x="2211796" y="862703"/>
                  </a:lnTo>
                  <a:cubicBezTo>
                    <a:pt x="2211796" y="875172"/>
                    <a:pt x="2206843" y="887131"/>
                    <a:pt x="2198026" y="895948"/>
                  </a:cubicBezTo>
                  <a:cubicBezTo>
                    <a:pt x="2189208" y="904765"/>
                    <a:pt x="2177249" y="909719"/>
                    <a:pt x="2164780" y="909719"/>
                  </a:cubicBezTo>
                  <a:lnTo>
                    <a:pt x="47016" y="909719"/>
                  </a:lnTo>
                  <a:cubicBezTo>
                    <a:pt x="34547" y="909719"/>
                    <a:pt x="22588" y="904765"/>
                    <a:pt x="13771" y="895948"/>
                  </a:cubicBezTo>
                  <a:cubicBezTo>
                    <a:pt x="4953" y="887131"/>
                    <a:pt x="0" y="875172"/>
                    <a:pt x="0" y="862703"/>
                  </a:cubicBezTo>
                  <a:lnTo>
                    <a:pt x="0" y="47016"/>
                  </a:lnTo>
                  <a:cubicBezTo>
                    <a:pt x="0" y="34547"/>
                    <a:pt x="4953" y="22588"/>
                    <a:pt x="13771" y="13771"/>
                  </a:cubicBezTo>
                  <a:cubicBezTo>
                    <a:pt x="22588" y="4953"/>
                    <a:pt x="34547" y="0"/>
                    <a:pt x="47016" y="0"/>
                  </a:cubicBezTo>
                  <a:close/>
                </a:path>
              </a:pathLst>
            </a:custGeom>
            <a:gradFill rotWithShape="1">
              <a:gsLst>
                <a:gs pos="0">
                  <a:srgbClr val="FFF7AD">
                    <a:alpha val="100000"/>
                  </a:srgbClr>
                </a:gs>
                <a:gs pos="100000">
                  <a:srgbClr val="FFA9F9">
                    <a:alpha val="100000"/>
                  </a:srgbClr>
                </a:gs>
              </a:gsLst>
              <a:lin ang="0"/>
            </a:gradFill>
          </p:spPr>
          <p:txBody>
            <a:bodyPr/>
            <a:lstStyle/>
            <a:p>
              <a:endParaRPr lang="en-IN"/>
            </a:p>
          </p:txBody>
        </p:sp>
        <p:sp>
          <p:nvSpPr>
            <p:cNvPr id="7" name="TextBox 7"/>
            <p:cNvSpPr txBox="1"/>
            <p:nvPr/>
          </p:nvSpPr>
          <p:spPr>
            <a:xfrm>
              <a:off x="0" y="-38100"/>
              <a:ext cx="2211796" cy="947819"/>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726935" y="6172200"/>
            <a:ext cx="7510696" cy="3454089"/>
            <a:chOff x="0" y="0"/>
            <a:chExt cx="1978126" cy="909719"/>
          </a:xfrm>
        </p:grpSpPr>
        <p:sp>
          <p:nvSpPr>
            <p:cNvPr id="9" name="Freeform 9"/>
            <p:cNvSpPr/>
            <p:nvPr/>
          </p:nvSpPr>
          <p:spPr>
            <a:xfrm>
              <a:off x="0" y="0"/>
              <a:ext cx="1978126" cy="909719"/>
            </a:xfrm>
            <a:custGeom>
              <a:avLst/>
              <a:gdLst/>
              <a:ahLst/>
              <a:cxnLst/>
              <a:rect l="l" t="t" r="r" b="b"/>
              <a:pathLst>
                <a:path w="1978126" h="909719">
                  <a:moveTo>
                    <a:pt x="52570" y="0"/>
                  </a:moveTo>
                  <a:lnTo>
                    <a:pt x="1925556" y="0"/>
                  </a:lnTo>
                  <a:cubicBezTo>
                    <a:pt x="1954589" y="0"/>
                    <a:pt x="1978126" y="23536"/>
                    <a:pt x="1978126" y="52570"/>
                  </a:cubicBezTo>
                  <a:lnTo>
                    <a:pt x="1978126" y="857149"/>
                  </a:lnTo>
                  <a:cubicBezTo>
                    <a:pt x="1978126" y="886182"/>
                    <a:pt x="1954589" y="909719"/>
                    <a:pt x="1925556" y="909719"/>
                  </a:cubicBezTo>
                  <a:lnTo>
                    <a:pt x="52570" y="909719"/>
                  </a:lnTo>
                  <a:cubicBezTo>
                    <a:pt x="38628" y="909719"/>
                    <a:pt x="25256" y="904180"/>
                    <a:pt x="15397" y="894321"/>
                  </a:cubicBezTo>
                  <a:cubicBezTo>
                    <a:pt x="5539" y="884463"/>
                    <a:pt x="0" y="871091"/>
                    <a:pt x="0" y="857149"/>
                  </a:cubicBezTo>
                  <a:lnTo>
                    <a:pt x="0" y="52570"/>
                  </a:lnTo>
                  <a:cubicBezTo>
                    <a:pt x="0" y="23536"/>
                    <a:pt x="23536" y="0"/>
                    <a:pt x="52570" y="0"/>
                  </a:cubicBezTo>
                  <a:close/>
                </a:path>
              </a:pathLst>
            </a:custGeom>
            <a:gradFill rotWithShape="1">
              <a:gsLst>
                <a:gs pos="0">
                  <a:srgbClr val="FFF7AD">
                    <a:alpha val="100000"/>
                  </a:srgbClr>
                </a:gs>
                <a:gs pos="100000">
                  <a:srgbClr val="FFA9F9">
                    <a:alpha val="100000"/>
                  </a:srgbClr>
                </a:gs>
              </a:gsLst>
              <a:lin ang="0"/>
            </a:gradFill>
          </p:spPr>
          <p:txBody>
            <a:bodyPr/>
            <a:lstStyle/>
            <a:p>
              <a:endParaRPr lang="en-IN"/>
            </a:p>
          </p:txBody>
        </p:sp>
        <p:sp>
          <p:nvSpPr>
            <p:cNvPr id="10" name="TextBox 10"/>
            <p:cNvSpPr txBox="1"/>
            <p:nvPr/>
          </p:nvSpPr>
          <p:spPr>
            <a:xfrm>
              <a:off x="0" y="-38100"/>
              <a:ext cx="1978126" cy="947819"/>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9144000" y="2358488"/>
            <a:ext cx="7968841" cy="3241138"/>
            <a:chOff x="0" y="0"/>
            <a:chExt cx="2098789" cy="853633"/>
          </a:xfrm>
        </p:grpSpPr>
        <p:sp>
          <p:nvSpPr>
            <p:cNvPr id="12" name="Freeform 12"/>
            <p:cNvSpPr/>
            <p:nvPr/>
          </p:nvSpPr>
          <p:spPr>
            <a:xfrm>
              <a:off x="0" y="0"/>
              <a:ext cx="2098789" cy="853633"/>
            </a:xfrm>
            <a:custGeom>
              <a:avLst/>
              <a:gdLst/>
              <a:ahLst/>
              <a:cxnLst/>
              <a:rect l="l" t="t" r="r" b="b"/>
              <a:pathLst>
                <a:path w="2098789" h="853633">
                  <a:moveTo>
                    <a:pt x="49548" y="0"/>
                  </a:moveTo>
                  <a:lnTo>
                    <a:pt x="2049242" y="0"/>
                  </a:lnTo>
                  <a:cubicBezTo>
                    <a:pt x="2062382" y="0"/>
                    <a:pt x="2074985" y="5220"/>
                    <a:pt x="2084277" y="14512"/>
                  </a:cubicBezTo>
                  <a:cubicBezTo>
                    <a:pt x="2093569" y="23804"/>
                    <a:pt x="2098789" y="36407"/>
                    <a:pt x="2098789" y="49548"/>
                  </a:cubicBezTo>
                  <a:lnTo>
                    <a:pt x="2098789" y="804085"/>
                  </a:lnTo>
                  <a:cubicBezTo>
                    <a:pt x="2098789" y="831450"/>
                    <a:pt x="2076606" y="853633"/>
                    <a:pt x="2049242" y="853633"/>
                  </a:cubicBezTo>
                  <a:lnTo>
                    <a:pt x="49548" y="853633"/>
                  </a:lnTo>
                  <a:cubicBezTo>
                    <a:pt x="36407" y="853633"/>
                    <a:pt x="23804" y="848413"/>
                    <a:pt x="14512" y="839121"/>
                  </a:cubicBezTo>
                  <a:cubicBezTo>
                    <a:pt x="5220" y="829829"/>
                    <a:pt x="0" y="817226"/>
                    <a:pt x="0" y="804085"/>
                  </a:cubicBezTo>
                  <a:lnTo>
                    <a:pt x="0" y="49548"/>
                  </a:lnTo>
                  <a:cubicBezTo>
                    <a:pt x="0" y="36407"/>
                    <a:pt x="5220" y="23804"/>
                    <a:pt x="14512" y="14512"/>
                  </a:cubicBezTo>
                  <a:cubicBezTo>
                    <a:pt x="23804" y="5220"/>
                    <a:pt x="36407" y="0"/>
                    <a:pt x="49548" y="0"/>
                  </a:cubicBezTo>
                  <a:close/>
                </a:path>
              </a:pathLst>
            </a:custGeom>
            <a:gradFill rotWithShape="1">
              <a:gsLst>
                <a:gs pos="0">
                  <a:srgbClr val="FFF7AD">
                    <a:alpha val="100000"/>
                  </a:srgbClr>
                </a:gs>
                <a:gs pos="100000">
                  <a:srgbClr val="FFA9F9">
                    <a:alpha val="100000"/>
                  </a:srgbClr>
                </a:gs>
              </a:gsLst>
              <a:lin ang="0"/>
            </a:gradFill>
          </p:spPr>
          <p:txBody>
            <a:bodyPr/>
            <a:lstStyle/>
            <a:p>
              <a:endParaRPr lang="en-IN"/>
            </a:p>
          </p:txBody>
        </p:sp>
        <p:sp>
          <p:nvSpPr>
            <p:cNvPr id="13" name="TextBox 13"/>
            <p:cNvSpPr txBox="1"/>
            <p:nvPr/>
          </p:nvSpPr>
          <p:spPr>
            <a:xfrm>
              <a:off x="0" y="-38100"/>
              <a:ext cx="2098789" cy="891733"/>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751776" y="2512302"/>
            <a:ext cx="7963151" cy="1831010"/>
          </a:xfrm>
          <a:prstGeom prst="rect">
            <a:avLst/>
          </a:prstGeom>
        </p:spPr>
        <p:txBody>
          <a:bodyPr lIns="0" tIns="0" rIns="0" bIns="0" rtlCol="0" anchor="t">
            <a:spAutoFit/>
          </a:bodyPr>
          <a:lstStyle/>
          <a:p>
            <a:pPr algn="ctr">
              <a:lnSpc>
                <a:spcPts val="5894"/>
              </a:lnSpc>
              <a:spcBef>
                <a:spcPct val="0"/>
              </a:spcBef>
            </a:pPr>
            <a:r>
              <a:rPr lang="en-US" sz="4210" b="1" i="1">
                <a:solidFill>
                  <a:srgbClr val="000000"/>
                </a:solidFill>
                <a:latin typeface="Canva Sans Bold Italics"/>
                <a:ea typeface="Canva Sans Bold Italics"/>
                <a:cs typeface="Canva Sans Bold Italics"/>
                <a:sym typeface="Canva Sans Bold Italics"/>
              </a:rPr>
              <a:t>STEP 05:</a:t>
            </a:r>
          </a:p>
          <a:p>
            <a:pPr algn="ctr">
              <a:lnSpc>
                <a:spcPts val="4354"/>
              </a:lnSpc>
              <a:spcBef>
                <a:spcPct val="0"/>
              </a:spcBef>
            </a:pPr>
            <a:endParaRPr lang="en-US" sz="4210" b="1" i="1">
              <a:solidFill>
                <a:srgbClr val="000000"/>
              </a:solidFill>
              <a:latin typeface="Canva Sans Bold Italics"/>
              <a:ea typeface="Canva Sans Bold Italics"/>
              <a:cs typeface="Canva Sans Bold Italics"/>
              <a:sym typeface="Canva Sans Bold Italics"/>
            </a:endParaRPr>
          </a:p>
          <a:p>
            <a:pPr algn="ctr">
              <a:lnSpc>
                <a:spcPts val="4354"/>
              </a:lnSpc>
              <a:spcBef>
                <a:spcPct val="0"/>
              </a:spcBef>
            </a:pPr>
            <a:endParaRPr lang="en-US" sz="4210" b="1" i="1">
              <a:solidFill>
                <a:srgbClr val="000000"/>
              </a:solidFill>
              <a:latin typeface="Canva Sans Bold Italics"/>
              <a:ea typeface="Canva Sans Bold Italics"/>
              <a:cs typeface="Canva Sans Bold Italics"/>
              <a:sym typeface="Canva Sans Bold Italics"/>
            </a:endParaRPr>
          </a:p>
        </p:txBody>
      </p:sp>
      <p:sp>
        <p:nvSpPr>
          <p:cNvPr id="15" name="TextBox 15"/>
          <p:cNvSpPr txBox="1"/>
          <p:nvPr/>
        </p:nvSpPr>
        <p:spPr>
          <a:xfrm>
            <a:off x="751776" y="6376581"/>
            <a:ext cx="7485856" cy="2192511"/>
          </a:xfrm>
          <a:prstGeom prst="rect">
            <a:avLst/>
          </a:prstGeom>
        </p:spPr>
        <p:txBody>
          <a:bodyPr lIns="0" tIns="0" rIns="0" bIns="0" rtlCol="0" anchor="t">
            <a:spAutoFit/>
          </a:bodyPr>
          <a:lstStyle/>
          <a:p>
            <a:pPr algn="ctr">
              <a:lnSpc>
                <a:spcPts val="7326"/>
              </a:lnSpc>
            </a:pPr>
            <a:r>
              <a:rPr lang="en-US" sz="5233" b="1">
                <a:solidFill>
                  <a:srgbClr val="000000"/>
                </a:solidFill>
                <a:latin typeface="Canva Sans Bold"/>
                <a:ea typeface="Canva Sans Bold"/>
                <a:cs typeface="Canva Sans Bold"/>
                <a:sym typeface="Canva Sans Bold"/>
              </a:rPr>
              <a:t>STEP 07:</a:t>
            </a:r>
          </a:p>
          <a:p>
            <a:pPr algn="ctr">
              <a:lnSpc>
                <a:spcPts val="5086"/>
              </a:lnSpc>
            </a:pPr>
            <a:r>
              <a:rPr lang="en-US" sz="3633" b="1">
                <a:solidFill>
                  <a:srgbClr val="000000"/>
                </a:solidFill>
                <a:latin typeface="Canva Sans Bold"/>
                <a:ea typeface="Canva Sans Bold"/>
                <a:cs typeface="Canva Sans Bold"/>
                <a:sym typeface="Canva Sans Bold"/>
              </a:rPr>
              <a:t>Game Over and Replay</a:t>
            </a:r>
          </a:p>
          <a:p>
            <a:pPr algn="ctr">
              <a:lnSpc>
                <a:spcPts val="5086"/>
              </a:lnSpc>
              <a:spcBef>
                <a:spcPct val="0"/>
              </a:spcBef>
            </a:pPr>
            <a:r>
              <a:rPr lang="en-US" sz="3633" b="1">
                <a:solidFill>
                  <a:srgbClr val="000000"/>
                </a:solidFill>
                <a:latin typeface="Canva Sans Bold"/>
                <a:ea typeface="Canva Sans Bold"/>
                <a:cs typeface="Canva Sans Bold"/>
                <a:sym typeface="Canva Sans Bold"/>
              </a:rPr>
              <a:t>Final score is shown</a:t>
            </a:r>
          </a:p>
        </p:txBody>
      </p:sp>
      <p:sp>
        <p:nvSpPr>
          <p:cNvPr id="16" name="TextBox 16"/>
          <p:cNvSpPr txBox="1"/>
          <p:nvPr/>
        </p:nvSpPr>
        <p:spPr>
          <a:xfrm>
            <a:off x="6973513" y="6160686"/>
            <a:ext cx="12558337" cy="4106104"/>
          </a:xfrm>
          <a:prstGeom prst="rect">
            <a:avLst/>
          </a:prstGeom>
        </p:spPr>
        <p:txBody>
          <a:bodyPr lIns="0" tIns="0" rIns="0" bIns="0" rtlCol="0" anchor="t">
            <a:spAutoFit/>
          </a:bodyPr>
          <a:lstStyle/>
          <a:p>
            <a:pPr algn="ctr">
              <a:lnSpc>
                <a:spcPts val="7322"/>
              </a:lnSpc>
            </a:pPr>
            <a:r>
              <a:rPr lang="en-US" sz="5230" b="1">
                <a:solidFill>
                  <a:srgbClr val="000000"/>
                </a:solidFill>
                <a:latin typeface="Canva Sans Bold"/>
                <a:ea typeface="Canva Sans Bold"/>
                <a:cs typeface="Canva Sans Bold"/>
                <a:sym typeface="Canva Sans Bold"/>
              </a:rPr>
              <a:t>STEP 08:</a:t>
            </a:r>
          </a:p>
          <a:p>
            <a:pPr algn="ctr">
              <a:lnSpc>
                <a:spcPts val="4954"/>
              </a:lnSpc>
            </a:pPr>
            <a:r>
              <a:rPr lang="en-US" sz="3538" b="1">
                <a:solidFill>
                  <a:srgbClr val="000000"/>
                </a:solidFill>
                <a:latin typeface="Canva Sans Bold"/>
                <a:ea typeface="Canva Sans Bold"/>
                <a:cs typeface="Canva Sans Bold"/>
                <a:sym typeface="Canva Sans Bold"/>
              </a:rPr>
              <a:t>Press ENTER → restart</a:t>
            </a:r>
          </a:p>
          <a:p>
            <a:pPr algn="ctr">
              <a:lnSpc>
                <a:spcPts val="4954"/>
              </a:lnSpc>
            </a:pPr>
            <a:r>
              <a:rPr lang="en-US" sz="3538" b="1">
                <a:solidFill>
                  <a:srgbClr val="000000"/>
                </a:solidFill>
                <a:latin typeface="Canva Sans Bold"/>
                <a:ea typeface="Canva Sans Bold"/>
                <a:cs typeface="Canva Sans Bold"/>
                <a:sym typeface="Canva Sans Bold"/>
              </a:rPr>
              <a:t>Press ESC → exit</a:t>
            </a:r>
          </a:p>
          <a:p>
            <a:pPr algn="ctr">
              <a:lnSpc>
                <a:spcPts val="4954"/>
              </a:lnSpc>
            </a:pPr>
            <a:r>
              <a:rPr lang="en-US" sz="3538" b="1">
                <a:solidFill>
                  <a:srgbClr val="000000"/>
                </a:solidFill>
                <a:latin typeface="Canva Sans Bold"/>
                <a:ea typeface="Canva Sans Bold"/>
                <a:cs typeface="Canva Sans Bold"/>
                <a:sym typeface="Canva Sans Bold"/>
              </a:rPr>
              <a:t>This will keep the game flow clean, </a:t>
            </a:r>
          </a:p>
          <a:p>
            <a:pPr algn="ctr">
              <a:lnSpc>
                <a:spcPts val="4954"/>
              </a:lnSpc>
            </a:pPr>
            <a:r>
              <a:rPr lang="en-US" sz="3538" b="1">
                <a:solidFill>
                  <a:srgbClr val="000000"/>
                </a:solidFill>
                <a:latin typeface="Canva Sans Bold"/>
                <a:ea typeface="Canva Sans Bold"/>
                <a:cs typeface="Canva Sans Bold"/>
                <a:sym typeface="Canva Sans Bold"/>
              </a:rPr>
              <a:t>modular, and readable.</a:t>
            </a:r>
          </a:p>
          <a:p>
            <a:pPr algn="ctr">
              <a:lnSpc>
                <a:spcPts val="5546"/>
              </a:lnSpc>
              <a:spcBef>
                <a:spcPct val="0"/>
              </a:spcBef>
            </a:pPr>
            <a:endParaRPr lang="en-US" sz="3538" b="1">
              <a:solidFill>
                <a:srgbClr val="000000"/>
              </a:solidFill>
              <a:latin typeface="Canva Sans Bold"/>
              <a:ea typeface="Canva Sans Bold"/>
              <a:cs typeface="Canva Sans Bold"/>
              <a:sym typeface="Canva Sans Bold"/>
            </a:endParaRPr>
          </a:p>
        </p:txBody>
      </p:sp>
      <p:sp>
        <p:nvSpPr>
          <p:cNvPr id="17" name="TextBox 17"/>
          <p:cNvSpPr txBox="1"/>
          <p:nvPr/>
        </p:nvSpPr>
        <p:spPr>
          <a:xfrm>
            <a:off x="8091609" y="2371567"/>
            <a:ext cx="9644550" cy="3303345"/>
          </a:xfrm>
          <a:prstGeom prst="rect">
            <a:avLst/>
          </a:prstGeom>
        </p:spPr>
        <p:txBody>
          <a:bodyPr lIns="0" tIns="0" rIns="0" bIns="0" rtlCol="0" anchor="t">
            <a:spAutoFit/>
          </a:bodyPr>
          <a:lstStyle/>
          <a:p>
            <a:pPr algn="ctr">
              <a:lnSpc>
                <a:spcPts val="4636"/>
              </a:lnSpc>
            </a:pPr>
            <a:r>
              <a:rPr lang="en-US" sz="3312" b="1" i="1" dirty="0">
                <a:solidFill>
                  <a:srgbClr val="000000"/>
                </a:solidFill>
                <a:latin typeface="Canva Sans Bold Italics"/>
                <a:ea typeface="Canva Sans Bold Italics"/>
                <a:cs typeface="Canva Sans Bold Italics"/>
                <a:sym typeface="Canva Sans Bold Italics"/>
              </a:rPr>
              <a:t>Step 06:</a:t>
            </a:r>
          </a:p>
          <a:p>
            <a:pPr algn="ctr">
              <a:lnSpc>
                <a:spcPts val="4334"/>
              </a:lnSpc>
            </a:pPr>
            <a:r>
              <a:rPr lang="en-US" sz="3096" b="1" i="1" dirty="0">
                <a:solidFill>
                  <a:srgbClr val="000000"/>
                </a:solidFill>
                <a:latin typeface="Canva Sans Bold Italics"/>
                <a:ea typeface="Canva Sans Bold Italics"/>
                <a:cs typeface="Canva Sans Bold Italics"/>
                <a:sym typeface="Canva Sans Bold Italics"/>
              </a:rPr>
              <a:t> Validation</a:t>
            </a:r>
          </a:p>
          <a:p>
            <a:pPr algn="ctr">
              <a:lnSpc>
                <a:spcPts val="4334"/>
              </a:lnSpc>
            </a:pPr>
            <a:r>
              <a:rPr lang="en-US" sz="3096" b="1" i="1" dirty="0">
                <a:solidFill>
                  <a:srgbClr val="000000"/>
                </a:solidFill>
                <a:latin typeface="Canva Sans Bold Italics"/>
                <a:ea typeface="Canva Sans Bold Italics"/>
                <a:cs typeface="Canva Sans Bold Italics"/>
                <a:sym typeface="Canva Sans Bold Italics"/>
              </a:rPr>
              <a:t>Compare user input with actual sequence</a:t>
            </a:r>
          </a:p>
          <a:p>
            <a:pPr algn="ctr">
              <a:lnSpc>
                <a:spcPts val="4334"/>
              </a:lnSpc>
            </a:pPr>
            <a:r>
              <a:rPr lang="en-US" sz="3096" b="1" i="1" dirty="0">
                <a:solidFill>
                  <a:srgbClr val="000000"/>
                </a:solidFill>
                <a:latin typeface="Canva Sans Bold Italics"/>
                <a:ea typeface="Canva Sans Bold Italics"/>
                <a:cs typeface="Canva Sans Bold Italics"/>
                <a:sym typeface="Canva Sans Bold Italics"/>
              </a:rPr>
              <a:t>If correct → show success message</a:t>
            </a:r>
          </a:p>
          <a:p>
            <a:pPr algn="ctr">
              <a:lnSpc>
                <a:spcPts val="4334"/>
              </a:lnSpc>
            </a:pPr>
            <a:r>
              <a:rPr lang="en-US" sz="3096" b="1" i="1" dirty="0">
                <a:solidFill>
                  <a:srgbClr val="000000"/>
                </a:solidFill>
                <a:latin typeface="Canva Sans Bold Italics"/>
                <a:ea typeface="Canva Sans Bold Italics"/>
                <a:cs typeface="Canva Sans Bold Italics"/>
                <a:sym typeface="Canva Sans Bold Italics"/>
              </a:rPr>
              <a:t>If wrong → game over screen</a:t>
            </a:r>
          </a:p>
          <a:p>
            <a:pPr algn="ctr">
              <a:lnSpc>
                <a:spcPts val="4449"/>
              </a:lnSpc>
              <a:spcBef>
                <a:spcPct val="0"/>
              </a:spcBef>
            </a:pPr>
            <a:r>
              <a:rPr lang="en-US" sz="3177" b="1" dirty="0">
                <a:solidFill>
                  <a:srgbClr val="000000"/>
                </a:solidFill>
                <a:latin typeface="Canva Sans Bold"/>
                <a:ea typeface="Canva Sans Bold"/>
                <a:cs typeface="Canva Sans Bold"/>
                <a:sym typeface="Canva Sans Bold"/>
              </a:rPr>
              <a:t>Instruction to start</a:t>
            </a:r>
          </a:p>
        </p:txBody>
      </p:sp>
      <p:sp>
        <p:nvSpPr>
          <p:cNvPr id="18" name="TextBox 18"/>
          <p:cNvSpPr txBox="1"/>
          <p:nvPr/>
        </p:nvSpPr>
        <p:spPr>
          <a:xfrm>
            <a:off x="2529762" y="12824"/>
            <a:ext cx="13228476" cy="1690719"/>
          </a:xfrm>
          <a:prstGeom prst="rect">
            <a:avLst/>
          </a:prstGeom>
        </p:spPr>
        <p:txBody>
          <a:bodyPr lIns="0" tIns="0" rIns="0" bIns="0" rtlCol="0" anchor="t">
            <a:spAutoFit/>
          </a:bodyPr>
          <a:lstStyle/>
          <a:p>
            <a:pPr algn="ctr">
              <a:lnSpc>
                <a:spcPts val="15063"/>
              </a:lnSpc>
              <a:spcBef>
                <a:spcPct val="0"/>
              </a:spcBef>
            </a:pPr>
            <a:r>
              <a:rPr lang="en-US" sz="7200" b="1" u="sng" dirty="0">
                <a:solidFill>
                  <a:srgbClr val="000000"/>
                </a:solidFill>
                <a:latin typeface="Canva Sans Bold"/>
                <a:ea typeface="Canva Sans Bold"/>
                <a:cs typeface="Canva Sans Bold"/>
                <a:sym typeface="Canva Sans Bold"/>
              </a:rPr>
              <a:t>Proposed</a:t>
            </a:r>
            <a:r>
              <a:rPr lang="en-US" sz="7200" b="1" dirty="0">
                <a:solidFill>
                  <a:srgbClr val="000000"/>
                </a:solidFill>
                <a:latin typeface="Canva Sans Bold"/>
                <a:ea typeface="Canva Sans Bold"/>
                <a:cs typeface="Canva Sans Bold"/>
                <a:sym typeface="Canva Sans Bold"/>
              </a:rPr>
              <a:t> </a:t>
            </a:r>
            <a:r>
              <a:rPr lang="en-US" sz="7200" b="1" u="sng" dirty="0">
                <a:solidFill>
                  <a:srgbClr val="000000"/>
                </a:solidFill>
                <a:latin typeface="Canva Sans Bold"/>
                <a:ea typeface="Canva Sans Bold"/>
                <a:cs typeface="Canva Sans Bold"/>
                <a:sym typeface="Canva Sans Bold"/>
              </a:rPr>
              <a:t>Approach</a:t>
            </a:r>
          </a:p>
        </p:txBody>
      </p:sp>
      <p:sp>
        <p:nvSpPr>
          <p:cNvPr id="19" name="TextBox 19"/>
          <p:cNvSpPr txBox="1"/>
          <p:nvPr/>
        </p:nvSpPr>
        <p:spPr>
          <a:xfrm>
            <a:off x="8996436" y="5034904"/>
            <a:ext cx="295127" cy="198141"/>
          </a:xfrm>
          <a:prstGeom prst="rect">
            <a:avLst/>
          </a:prstGeom>
        </p:spPr>
        <p:txBody>
          <a:bodyPr lIns="0" tIns="0" rIns="0" bIns="0" rtlCol="0" anchor="t">
            <a:spAutoFit/>
          </a:bodyPr>
          <a:lstStyle/>
          <a:p>
            <a:pPr marL="0" lvl="0" indent="0" algn="ctr">
              <a:lnSpc>
                <a:spcPts val="1679"/>
              </a:lnSpc>
              <a:spcBef>
                <a:spcPct val="0"/>
              </a:spcBef>
            </a:pPr>
            <a:r>
              <a:rPr lang="en-US" sz="1200" u="none" strike="noStrike">
                <a:solidFill>
                  <a:srgbClr val="000000"/>
                </a:solidFill>
                <a:latin typeface="Flow"/>
                <a:ea typeface="Flow"/>
                <a:cs typeface="Flow"/>
                <a:sym typeface="Flow"/>
              </a:rPr>
              <a:t>Flow</a:t>
            </a:r>
          </a:p>
        </p:txBody>
      </p:sp>
      <p:sp>
        <p:nvSpPr>
          <p:cNvPr id="20" name="TextBox 20"/>
          <p:cNvSpPr txBox="1"/>
          <p:nvPr/>
        </p:nvSpPr>
        <p:spPr>
          <a:xfrm>
            <a:off x="-357971" y="3171804"/>
            <a:ext cx="9501971" cy="2141975"/>
          </a:xfrm>
          <a:prstGeom prst="rect">
            <a:avLst/>
          </a:prstGeom>
        </p:spPr>
        <p:txBody>
          <a:bodyPr lIns="0" tIns="0" rIns="0" bIns="0" rtlCol="0" anchor="t">
            <a:spAutoFit/>
          </a:bodyPr>
          <a:lstStyle/>
          <a:p>
            <a:pPr algn="ctr">
              <a:lnSpc>
                <a:spcPts val="4281"/>
              </a:lnSpc>
              <a:spcBef>
                <a:spcPct val="0"/>
              </a:spcBef>
            </a:pPr>
            <a:r>
              <a:rPr lang="en-US" sz="3057" b="1">
                <a:solidFill>
                  <a:srgbClr val="000000"/>
                </a:solidFill>
                <a:latin typeface="Canva Sans Bold"/>
                <a:ea typeface="Canva Sans Bold"/>
                <a:cs typeface="Canva Sans Bold"/>
                <a:sym typeface="Canva Sans Bold"/>
              </a:rPr>
              <a:t>: Input Phase</a:t>
            </a:r>
          </a:p>
          <a:p>
            <a:pPr algn="ctr">
              <a:lnSpc>
                <a:spcPts val="4281"/>
              </a:lnSpc>
              <a:spcBef>
                <a:spcPct val="0"/>
              </a:spcBef>
            </a:pPr>
            <a:r>
              <a:rPr lang="en-US" sz="3057" b="1">
                <a:solidFill>
                  <a:srgbClr val="000000"/>
                </a:solidFill>
                <a:latin typeface="Canva Sans Bold"/>
                <a:ea typeface="Canva Sans Bold"/>
                <a:cs typeface="Canva Sans Bold"/>
                <a:sym typeface="Canva Sans Bold"/>
              </a:rPr>
              <a:t>User types digits</a:t>
            </a:r>
          </a:p>
          <a:p>
            <a:pPr algn="ctr">
              <a:lnSpc>
                <a:spcPts val="4281"/>
              </a:lnSpc>
              <a:spcBef>
                <a:spcPct val="0"/>
              </a:spcBef>
            </a:pPr>
            <a:r>
              <a:rPr lang="en-US" sz="3057" b="1">
                <a:solidFill>
                  <a:srgbClr val="000000"/>
                </a:solidFill>
                <a:latin typeface="Canva Sans Bold"/>
                <a:ea typeface="Canva Sans Bold"/>
                <a:cs typeface="Canva Sans Bold"/>
                <a:sym typeface="Canva Sans Bold"/>
              </a:rPr>
              <a:t>The typed digits appear in designed i</a:t>
            </a:r>
          </a:p>
          <a:p>
            <a:pPr algn="ctr">
              <a:lnSpc>
                <a:spcPts val="4281"/>
              </a:lnSpc>
              <a:spcBef>
                <a:spcPct val="0"/>
              </a:spcBef>
            </a:pPr>
            <a:r>
              <a:rPr lang="en-US" sz="3057" b="1">
                <a:solidFill>
                  <a:srgbClr val="000000"/>
                </a:solidFill>
                <a:latin typeface="Canva Sans Bold"/>
                <a:ea typeface="Canva Sans Bold"/>
                <a:cs typeface="Canva Sans Bold"/>
                <a:sym typeface="Canva Sans Bold"/>
              </a:rPr>
              <a:t>nput boxes.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EDEC"/>
        </a:solidFill>
        <a:effectLst/>
      </p:bgPr>
    </p:bg>
    <p:spTree>
      <p:nvGrpSpPr>
        <p:cNvPr id="1" name=""/>
        <p:cNvGrpSpPr/>
        <p:nvPr/>
      </p:nvGrpSpPr>
      <p:grpSpPr>
        <a:xfrm>
          <a:off x="0" y="0"/>
          <a:ext cx="0" cy="0"/>
          <a:chOff x="0" y="0"/>
          <a:chExt cx="0" cy="0"/>
        </a:xfrm>
      </p:grpSpPr>
      <p:grpSp>
        <p:nvGrpSpPr>
          <p:cNvPr id="2" name="Group 2"/>
          <p:cNvGrpSpPr/>
          <p:nvPr/>
        </p:nvGrpSpPr>
        <p:grpSpPr>
          <a:xfrm>
            <a:off x="603065" y="1898577"/>
            <a:ext cx="8315307" cy="7632673"/>
            <a:chOff x="0" y="0"/>
            <a:chExt cx="2190040" cy="2010251"/>
          </a:xfrm>
        </p:grpSpPr>
        <p:sp>
          <p:nvSpPr>
            <p:cNvPr id="3" name="Freeform 3"/>
            <p:cNvSpPr/>
            <p:nvPr/>
          </p:nvSpPr>
          <p:spPr>
            <a:xfrm>
              <a:off x="0" y="0"/>
              <a:ext cx="2190040" cy="2010251"/>
            </a:xfrm>
            <a:custGeom>
              <a:avLst/>
              <a:gdLst/>
              <a:ahLst/>
              <a:cxnLst/>
              <a:rect l="l" t="t" r="r" b="b"/>
              <a:pathLst>
                <a:path w="2190040" h="2010251">
                  <a:moveTo>
                    <a:pt x="47483" y="0"/>
                  </a:moveTo>
                  <a:lnTo>
                    <a:pt x="2142556" y="0"/>
                  </a:lnTo>
                  <a:cubicBezTo>
                    <a:pt x="2168781" y="0"/>
                    <a:pt x="2190040" y="21259"/>
                    <a:pt x="2190040" y="47483"/>
                  </a:cubicBezTo>
                  <a:lnTo>
                    <a:pt x="2190040" y="1962768"/>
                  </a:lnTo>
                  <a:cubicBezTo>
                    <a:pt x="2190040" y="1988992"/>
                    <a:pt x="2168781" y="2010251"/>
                    <a:pt x="2142556" y="2010251"/>
                  </a:cubicBezTo>
                  <a:lnTo>
                    <a:pt x="47483" y="2010251"/>
                  </a:lnTo>
                  <a:cubicBezTo>
                    <a:pt x="21259" y="2010251"/>
                    <a:pt x="0" y="1988992"/>
                    <a:pt x="0" y="1962768"/>
                  </a:cubicBezTo>
                  <a:lnTo>
                    <a:pt x="0" y="47483"/>
                  </a:lnTo>
                  <a:cubicBezTo>
                    <a:pt x="0" y="21259"/>
                    <a:pt x="21259" y="0"/>
                    <a:pt x="47483" y="0"/>
                  </a:cubicBezTo>
                  <a:close/>
                </a:path>
              </a:pathLst>
            </a:custGeom>
            <a:gradFill rotWithShape="1">
              <a:gsLst>
                <a:gs pos="0">
                  <a:srgbClr val="FFF7AD">
                    <a:alpha val="100000"/>
                  </a:srgbClr>
                </a:gs>
                <a:gs pos="100000">
                  <a:srgbClr val="FFA9F9">
                    <a:alpha val="100000"/>
                  </a:srgbClr>
                </a:gs>
              </a:gsLst>
              <a:lin ang="0"/>
            </a:gradFill>
          </p:spPr>
          <p:txBody>
            <a:bodyPr/>
            <a:lstStyle/>
            <a:p>
              <a:endParaRPr lang="en-IN"/>
            </a:p>
          </p:txBody>
        </p:sp>
        <p:sp>
          <p:nvSpPr>
            <p:cNvPr id="4" name="TextBox 4"/>
            <p:cNvSpPr txBox="1"/>
            <p:nvPr/>
          </p:nvSpPr>
          <p:spPr>
            <a:xfrm>
              <a:off x="0" y="-38100"/>
              <a:ext cx="2190040" cy="2048351"/>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9612511" y="2138272"/>
            <a:ext cx="7646789" cy="7632673"/>
            <a:chOff x="0" y="0"/>
            <a:chExt cx="2013969" cy="2010251"/>
          </a:xfrm>
        </p:grpSpPr>
        <p:sp>
          <p:nvSpPr>
            <p:cNvPr id="6" name="Freeform 6"/>
            <p:cNvSpPr/>
            <p:nvPr/>
          </p:nvSpPr>
          <p:spPr>
            <a:xfrm>
              <a:off x="0" y="0"/>
              <a:ext cx="2013969" cy="2010251"/>
            </a:xfrm>
            <a:custGeom>
              <a:avLst/>
              <a:gdLst/>
              <a:ahLst/>
              <a:cxnLst/>
              <a:rect l="l" t="t" r="r" b="b"/>
              <a:pathLst>
                <a:path w="2013969" h="2010251">
                  <a:moveTo>
                    <a:pt x="51634" y="0"/>
                  </a:moveTo>
                  <a:lnTo>
                    <a:pt x="1962334" y="0"/>
                  </a:lnTo>
                  <a:cubicBezTo>
                    <a:pt x="1990851" y="0"/>
                    <a:pt x="2013969" y="23118"/>
                    <a:pt x="2013969" y="51634"/>
                  </a:cubicBezTo>
                  <a:lnTo>
                    <a:pt x="2013969" y="1958617"/>
                  </a:lnTo>
                  <a:cubicBezTo>
                    <a:pt x="2013969" y="1987134"/>
                    <a:pt x="1990851" y="2010251"/>
                    <a:pt x="1962334" y="2010251"/>
                  </a:cubicBezTo>
                  <a:lnTo>
                    <a:pt x="51634" y="2010251"/>
                  </a:lnTo>
                  <a:cubicBezTo>
                    <a:pt x="23118" y="2010251"/>
                    <a:pt x="0" y="1987134"/>
                    <a:pt x="0" y="1958617"/>
                  </a:cubicBezTo>
                  <a:lnTo>
                    <a:pt x="0" y="51634"/>
                  </a:lnTo>
                  <a:cubicBezTo>
                    <a:pt x="0" y="23118"/>
                    <a:pt x="23118" y="0"/>
                    <a:pt x="51634" y="0"/>
                  </a:cubicBezTo>
                  <a:close/>
                </a:path>
              </a:pathLst>
            </a:custGeom>
            <a:gradFill rotWithShape="1">
              <a:gsLst>
                <a:gs pos="0">
                  <a:srgbClr val="FFF7AD">
                    <a:alpha val="100000"/>
                  </a:srgbClr>
                </a:gs>
                <a:gs pos="100000">
                  <a:srgbClr val="FFA9F9">
                    <a:alpha val="100000"/>
                  </a:srgbClr>
                </a:gs>
              </a:gsLst>
              <a:lin ang="0"/>
            </a:gradFill>
          </p:spPr>
          <p:txBody>
            <a:bodyPr/>
            <a:lstStyle/>
            <a:p>
              <a:endParaRPr lang="en-IN"/>
            </a:p>
          </p:txBody>
        </p:sp>
        <p:sp>
          <p:nvSpPr>
            <p:cNvPr id="7" name="TextBox 7"/>
            <p:cNvSpPr txBox="1"/>
            <p:nvPr/>
          </p:nvSpPr>
          <p:spPr>
            <a:xfrm>
              <a:off x="0" y="-38100"/>
              <a:ext cx="2013969" cy="2048351"/>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5688869" y="312670"/>
            <a:ext cx="29665738" cy="1289185"/>
          </a:xfrm>
          <a:prstGeom prst="rect">
            <a:avLst/>
          </a:prstGeom>
        </p:spPr>
        <p:txBody>
          <a:bodyPr lIns="0" tIns="0" rIns="0" bIns="0" rtlCol="0" anchor="t">
            <a:spAutoFit/>
          </a:bodyPr>
          <a:lstStyle/>
          <a:p>
            <a:pPr algn="ctr">
              <a:lnSpc>
                <a:spcPts val="10614"/>
              </a:lnSpc>
              <a:spcBef>
                <a:spcPct val="0"/>
              </a:spcBef>
            </a:pPr>
            <a:r>
              <a:rPr lang="en-US" sz="7582">
                <a:solidFill>
                  <a:srgbClr val="000000"/>
                </a:solidFill>
                <a:latin typeface="Vast Shadow"/>
                <a:ea typeface="Vast Shadow"/>
                <a:cs typeface="Vast Shadow"/>
                <a:sym typeface="Vast Shadow"/>
              </a:rPr>
              <a:t>.............CODE OVERVIEW...........</a:t>
            </a:r>
          </a:p>
        </p:txBody>
      </p:sp>
      <p:sp>
        <p:nvSpPr>
          <p:cNvPr id="9" name="TextBox 9"/>
          <p:cNvSpPr txBox="1"/>
          <p:nvPr/>
        </p:nvSpPr>
        <p:spPr>
          <a:xfrm>
            <a:off x="9774032" y="2795872"/>
            <a:ext cx="7485268" cy="6009245"/>
          </a:xfrm>
          <a:prstGeom prst="rect">
            <a:avLst/>
          </a:prstGeom>
        </p:spPr>
        <p:txBody>
          <a:bodyPr lIns="0" tIns="0" rIns="0" bIns="0" rtlCol="0" anchor="t">
            <a:spAutoFit/>
          </a:bodyPr>
          <a:lstStyle/>
          <a:p>
            <a:pPr algn="ctr">
              <a:lnSpc>
                <a:spcPts val="7244"/>
              </a:lnSpc>
            </a:pPr>
            <a:r>
              <a:rPr lang="en-US" sz="5174">
                <a:solidFill>
                  <a:srgbClr val="000000"/>
                </a:solidFill>
                <a:latin typeface="Vast Shadow"/>
                <a:ea typeface="Vast Shadow"/>
                <a:cs typeface="Vast Shadow"/>
                <a:sym typeface="Vast Shadow"/>
              </a:rPr>
              <a:t>Game Phases</a:t>
            </a:r>
          </a:p>
          <a:p>
            <a:pPr algn="ctr">
              <a:lnSpc>
                <a:spcPts val="7244"/>
              </a:lnSpc>
            </a:pPr>
            <a:endParaRPr lang="en-US" sz="5174">
              <a:solidFill>
                <a:srgbClr val="000000"/>
              </a:solidFill>
              <a:latin typeface="Vast Shadow"/>
              <a:ea typeface="Vast Shadow"/>
              <a:cs typeface="Vast Shadow"/>
              <a:sym typeface="Vast Shadow"/>
            </a:endParaRPr>
          </a:p>
          <a:p>
            <a:pPr marL="634902" lvl="1" indent="-317451" algn="ctr">
              <a:lnSpc>
                <a:spcPts val="4117"/>
              </a:lnSpc>
              <a:buAutoNum type="arabicPeriod"/>
            </a:pPr>
            <a:r>
              <a:rPr lang="en-US" sz="2940">
                <a:solidFill>
                  <a:srgbClr val="000000"/>
                </a:solidFill>
                <a:latin typeface="Vast Shadow"/>
                <a:ea typeface="Vast Shadow"/>
                <a:cs typeface="Vast Shadow"/>
                <a:sym typeface="Vast Shadow"/>
              </a:rPr>
              <a:t>Intro</a:t>
            </a:r>
          </a:p>
          <a:p>
            <a:pPr marL="634902" lvl="1" indent="-317451" algn="ctr">
              <a:lnSpc>
                <a:spcPts val="4117"/>
              </a:lnSpc>
              <a:buAutoNum type="arabicPeriod"/>
            </a:pPr>
            <a:r>
              <a:rPr lang="en-US" sz="2940">
                <a:solidFill>
                  <a:srgbClr val="000000"/>
                </a:solidFill>
                <a:latin typeface="Vast Shadow"/>
                <a:ea typeface="Vast Shadow"/>
                <a:cs typeface="Vast Shadow"/>
                <a:sym typeface="Vast Shadow"/>
              </a:rPr>
              <a:t>Instructions</a:t>
            </a:r>
          </a:p>
          <a:p>
            <a:pPr marL="634902" lvl="1" indent="-317451" algn="ctr">
              <a:lnSpc>
                <a:spcPts val="4117"/>
              </a:lnSpc>
              <a:buAutoNum type="arabicPeriod"/>
            </a:pPr>
            <a:r>
              <a:rPr lang="en-US" sz="2940">
                <a:solidFill>
                  <a:srgbClr val="000000"/>
                </a:solidFill>
                <a:latin typeface="Vast Shadow"/>
                <a:ea typeface="Vast Shadow"/>
                <a:cs typeface="Vast Shadow"/>
                <a:sym typeface="Vast Shadow"/>
              </a:rPr>
              <a:t>Display no. sequence</a:t>
            </a:r>
          </a:p>
          <a:p>
            <a:pPr marL="634902" lvl="1" indent="-317451" algn="ctr">
              <a:lnSpc>
                <a:spcPts val="4117"/>
              </a:lnSpc>
              <a:buAutoNum type="arabicPeriod"/>
            </a:pPr>
            <a:r>
              <a:rPr lang="en-US" sz="2940">
                <a:solidFill>
                  <a:srgbClr val="000000"/>
                </a:solidFill>
                <a:latin typeface="Vast Shadow"/>
                <a:ea typeface="Vast Shadow"/>
                <a:cs typeface="Vast Shadow"/>
                <a:sym typeface="Vast Shadow"/>
              </a:rPr>
              <a:t>Input sequence</a:t>
            </a:r>
          </a:p>
          <a:p>
            <a:pPr marL="634902" lvl="1" indent="-317451" algn="ctr">
              <a:lnSpc>
                <a:spcPts val="4117"/>
              </a:lnSpc>
              <a:buAutoNum type="arabicPeriod"/>
            </a:pPr>
            <a:r>
              <a:rPr lang="en-US" sz="2940">
                <a:solidFill>
                  <a:srgbClr val="000000"/>
                </a:solidFill>
                <a:latin typeface="Vast Shadow"/>
                <a:ea typeface="Vast Shadow"/>
                <a:cs typeface="Vast Shadow"/>
                <a:sym typeface="Vast Shadow"/>
              </a:rPr>
              <a:t>Validate</a:t>
            </a:r>
          </a:p>
          <a:p>
            <a:pPr marL="634902" lvl="1" indent="-317451" algn="ctr">
              <a:lnSpc>
                <a:spcPts val="4117"/>
              </a:lnSpc>
              <a:buAutoNum type="arabicPeriod"/>
            </a:pPr>
            <a:r>
              <a:rPr lang="en-US" sz="2940">
                <a:solidFill>
                  <a:srgbClr val="000000"/>
                </a:solidFill>
                <a:latin typeface="Vast Shadow"/>
                <a:ea typeface="Vast Shadow"/>
                <a:cs typeface="Vast Shadow"/>
                <a:sym typeface="Vast Shadow"/>
              </a:rPr>
              <a:t>Feedback(Correct / Wrong)</a:t>
            </a:r>
          </a:p>
          <a:p>
            <a:pPr marL="634902" lvl="1" indent="-317451" algn="ctr">
              <a:lnSpc>
                <a:spcPts val="4117"/>
              </a:lnSpc>
              <a:buAutoNum type="arabicPeriod"/>
            </a:pPr>
            <a:r>
              <a:rPr lang="en-US" sz="2940">
                <a:solidFill>
                  <a:srgbClr val="000000"/>
                </a:solidFill>
                <a:latin typeface="Vast Shadow"/>
                <a:ea typeface="Vast Shadow"/>
                <a:cs typeface="Vast Shadow"/>
                <a:sym typeface="Vast Shadow"/>
              </a:rPr>
              <a:t>Game Over + Replay</a:t>
            </a:r>
          </a:p>
          <a:p>
            <a:pPr marL="0" lvl="0" indent="0" algn="ctr">
              <a:lnSpc>
                <a:spcPts val="4117"/>
              </a:lnSpc>
              <a:spcBef>
                <a:spcPct val="0"/>
              </a:spcBef>
            </a:pPr>
            <a:endParaRPr lang="en-US" sz="2940">
              <a:solidFill>
                <a:srgbClr val="000000"/>
              </a:solidFill>
              <a:latin typeface="Vast Shadow"/>
              <a:ea typeface="Vast Shadow"/>
              <a:cs typeface="Vast Shadow"/>
              <a:sym typeface="Vast Shadow"/>
            </a:endParaRPr>
          </a:p>
        </p:txBody>
      </p:sp>
      <p:sp>
        <p:nvSpPr>
          <p:cNvPr id="10" name="TextBox 10"/>
          <p:cNvSpPr txBox="1"/>
          <p:nvPr/>
        </p:nvSpPr>
        <p:spPr>
          <a:xfrm>
            <a:off x="603065" y="4916784"/>
            <a:ext cx="8315307" cy="7585665"/>
          </a:xfrm>
          <a:prstGeom prst="rect">
            <a:avLst/>
          </a:prstGeom>
        </p:spPr>
        <p:txBody>
          <a:bodyPr lIns="0" tIns="0" rIns="0" bIns="0" rtlCol="0" anchor="t">
            <a:spAutoFit/>
          </a:bodyPr>
          <a:lstStyle/>
          <a:p>
            <a:pPr algn="ctr">
              <a:lnSpc>
                <a:spcPts val="3219"/>
              </a:lnSpc>
            </a:pPr>
            <a:r>
              <a:rPr lang="en-US" sz="2299">
                <a:solidFill>
                  <a:srgbClr val="000000"/>
                </a:solidFill>
                <a:latin typeface="Vast Shadow"/>
                <a:ea typeface="Vast Shadow"/>
                <a:cs typeface="Vast Shadow"/>
                <a:sym typeface="Vast Shadow"/>
              </a:rPr>
              <a:t>Display Utilities</a:t>
            </a:r>
          </a:p>
          <a:p>
            <a:pPr marL="496564" lvl="1" indent="-248282" algn="ctr">
              <a:lnSpc>
                <a:spcPts val="3219"/>
              </a:lnSpc>
              <a:buFont typeface="Arial"/>
              <a:buChar char="•"/>
            </a:pPr>
            <a:r>
              <a:rPr lang="en-US" sz="2299">
                <a:solidFill>
                  <a:srgbClr val="000000"/>
                </a:solidFill>
                <a:latin typeface="Vast Shadow"/>
                <a:ea typeface="Vast Shadow"/>
                <a:cs typeface="Vast Shadow"/>
                <a:sym typeface="Vast Shadow"/>
              </a:rPr>
              <a:t>Functions to draw centered text</a:t>
            </a:r>
          </a:p>
          <a:p>
            <a:pPr marL="496564" lvl="1" indent="-248282" algn="ctr">
              <a:lnSpc>
                <a:spcPts val="3219"/>
              </a:lnSpc>
              <a:buFont typeface="Arial"/>
              <a:buChar char="•"/>
            </a:pPr>
            <a:r>
              <a:rPr lang="en-US" sz="2299">
                <a:solidFill>
                  <a:srgbClr val="000000"/>
                </a:solidFill>
                <a:latin typeface="Vast Shadow"/>
                <a:ea typeface="Vast Shadow"/>
                <a:cs typeface="Vast Shadow"/>
                <a:sym typeface="Vast Shadow"/>
              </a:rPr>
              <a:t>Functions to draw beautiful boxes for numbers</a:t>
            </a:r>
          </a:p>
          <a:p>
            <a:pPr marL="496564" lvl="1" indent="-248282" algn="ctr">
              <a:lnSpc>
                <a:spcPts val="3219"/>
              </a:lnSpc>
              <a:buFont typeface="Arial"/>
              <a:buChar char="•"/>
            </a:pPr>
            <a:r>
              <a:rPr lang="en-US" sz="2299">
                <a:solidFill>
                  <a:srgbClr val="000000"/>
                </a:solidFill>
                <a:latin typeface="Vast Shadow"/>
                <a:ea typeface="Vast Shadow"/>
                <a:cs typeface="Vast Shadow"/>
                <a:sym typeface="Vast Shadow"/>
              </a:rPr>
              <a:t>Functions to display title windows</a:t>
            </a:r>
          </a:p>
          <a:p>
            <a:pPr marL="0" lvl="0" indent="0" algn="ctr">
              <a:lnSpc>
                <a:spcPts val="3219"/>
              </a:lnSpc>
              <a:spcBef>
                <a:spcPct val="0"/>
              </a:spcBef>
            </a:pPr>
            <a:endParaRPr lang="en-US" sz="2299">
              <a:solidFill>
                <a:srgbClr val="000000"/>
              </a:solidFill>
              <a:latin typeface="Vast Shadow"/>
              <a:ea typeface="Vast Shadow"/>
              <a:cs typeface="Vast Shadow"/>
              <a:sym typeface="Vast Shadow"/>
            </a:endParaRPr>
          </a:p>
          <a:p>
            <a:pPr marL="0" lvl="0" indent="0" algn="ctr">
              <a:lnSpc>
                <a:spcPts val="3219"/>
              </a:lnSpc>
              <a:spcBef>
                <a:spcPct val="0"/>
              </a:spcBef>
            </a:pPr>
            <a:endParaRPr lang="en-US" sz="2299">
              <a:solidFill>
                <a:srgbClr val="000000"/>
              </a:solidFill>
              <a:latin typeface="Vast Shadow"/>
              <a:ea typeface="Vast Shadow"/>
              <a:cs typeface="Vast Shadow"/>
              <a:sym typeface="Vast Shadow"/>
            </a:endParaRPr>
          </a:p>
          <a:p>
            <a:pPr marL="0" lvl="0" indent="0" algn="ctr">
              <a:lnSpc>
                <a:spcPts val="3219"/>
              </a:lnSpc>
              <a:spcBef>
                <a:spcPct val="0"/>
              </a:spcBef>
            </a:pPr>
            <a:endParaRPr lang="en-US" sz="2299">
              <a:solidFill>
                <a:srgbClr val="000000"/>
              </a:solidFill>
              <a:latin typeface="Vast Shadow"/>
              <a:ea typeface="Vast Shadow"/>
              <a:cs typeface="Vast Shadow"/>
              <a:sym typeface="Vast Shadow"/>
            </a:endParaRPr>
          </a:p>
          <a:p>
            <a:pPr marL="0" lvl="0" indent="0" algn="ctr">
              <a:lnSpc>
                <a:spcPts val="3219"/>
              </a:lnSpc>
              <a:spcBef>
                <a:spcPct val="0"/>
              </a:spcBef>
            </a:pPr>
            <a:endParaRPr lang="en-US" sz="2299">
              <a:solidFill>
                <a:srgbClr val="000000"/>
              </a:solidFill>
              <a:latin typeface="Vast Shadow"/>
              <a:ea typeface="Vast Shadow"/>
              <a:cs typeface="Vast Shadow"/>
              <a:sym typeface="Vast Shadow"/>
            </a:endParaRPr>
          </a:p>
          <a:p>
            <a:pPr marL="0" lvl="0" indent="0" algn="ctr">
              <a:lnSpc>
                <a:spcPts val="1679"/>
              </a:lnSpc>
              <a:spcBef>
                <a:spcPct val="0"/>
              </a:spcBef>
            </a:pPr>
            <a:endParaRPr lang="en-US" sz="2299">
              <a:solidFill>
                <a:srgbClr val="000000"/>
              </a:solidFill>
              <a:latin typeface="Vast Shadow"/>
              <a:ea typeface="Vast Shadow"/>
              <a:cs typeface="Vast Shadow"/>
              <a:sym typeface="Vast Shadow"/>
            </a:endParaRPr>
          </a:p>
          <a:p>
            <a:pPr marL="0" lvl="0" indent="0" algn="ctr">
              <a:lnSpc>
                <a:spcPts val="1679"/>
              </a:lnSpc>
              <a:spcBef>
                <a:spcPct val="0"/>
              </a:spcBef>
            </a:pPr>
            <a:endParaRPr lang="en-US" sz="2299">
              <a:solidFill>
                <a:srgbClr val="000000"/>
              </a:solidFill>
              <a:latin typeface="Vast Shadow"/>
              <a:ea typeface="Vast Shadow"/>
              <a:cs typeface="Vast Shadow"/>
              <a:sym typeface="Vast Shadow"/>
            </a:endParaRPr>
          </a:p>
          <a:p>
            <a:pPr marL="0" lvl="0" indent="0" algn="ctr">
              <a:lnSpc>
                <a:spcPts val="1679"/>
              </a:lnSpc>
              <a:spcBef>
                <a:spcPct val="0"/>
              </a:spcBef>
            </a:pPr>
            <a:endParaRPr lang="en-US" sz="2299">
              <a:solidFill>
                <a:srgbClr val="000000"/>
              </a:solidFill>
              <a:latin typeface="Vast Shadow"/>
              <a:ea typeface="Vast Shadow"/>
              <a:cs typeface="Vast Shadow"/>
              <a:sym typeface="Vast Shadow"/>
            </a:endParaRPr>
          </a:p>
          <a:p>
            <a:pPr marL="0" lvl="0" indent="0" algn="ctr">
              <a:lnSpc>
                <a:spcPts val="1679"/>
              </a:lnSpc>
              <a:spcBef>
                <a:spcPct val="0"/>
              </a:spcBef>
            </a:pPr>
            <a:endParaRPr lang="en-US" sz="2299">
              <a:solidFill>
                <a:srgbClr val="000000"/>
              </a:solidFill>
              <a:latin typeface="Vast Shadow"/>
              <a:ea typeface="Vast Shadow"/>
              <a:cs typeface="Vast Shadow"/>
              <a:sym typeface="Vast Shadow"/>
            </a:endParaRPr>
          </a:p>
          <a:p>
            <a:pPr marL="0" lvl="0" indent="0" algn="ctr">
              <a:lnSpc>
                <a:spcPts val="1679"/>
              </a:lnSpc>
              <a:spcBef>
                <a:spcPct val="0"/>
              </a:spcBef>
            </a:pPr>
            <a:endParaRPr lang="en-US" sz="2299">
              <a:solidFill>
                <a:srgbClr val="000000"/>
              </a:solidFill>
              <a:latin typeface="Vast Shadow"/>
              <a:ea typeface="Vast Shadow"/>
              <a:cs typeface="Vast Shadow"/>
              <a:sym typeface="Vast Shadow"/>
            </a:endParaRPr>
          </a:p>
          <a:p>
            <a:pPr marL="0" lvl="0" indent="0" algn="ctr">
              <a:lnSpc>
                <a:spcPts val="1679"/>
              </a:lnSpc>
              <a:spcBef>
                <a:spcPct val="0"/>
              </a:spcBef>
            </a:pPr>
            <a:endParaRPr lang="en-US" sz="2299">
              <a:solidFill>
                <a:srgbClr val="000000"/>
              </a:solidFill>
              <a:latin typeface="Vast Shadow"/>
              <a:ea typeface="Vast Shadow"/>
              <a:cs typeface="Vast Shadow"/>
              <a:sym typeface="Vast Shadow"/>
            </a:endParaRPr>
          </a:p>
          <a:p>
            <a:pPr marL="0" lvl="0" indent="0" algn="ctr">
              <a:lnSpc>
                <a:spcPts val="1679"/>
              </a:lnSpc>
              <a:spcBef>
                <a:spcPct val="0"/>
              </a:spcBef>
            </a:pPr>
            <a:endParaRPr lang="en-US" sz="2299">
              <a:solidFill>
                <a:srgbClr val="000000"/>
              </a:solidFill>
              <a:latin typeface="Vast Shadow"/>
              <a:ea typeface="Vast Shadow"/>
              <a:cs typeface="Vast Shadow"/>
              <a:sym typeface="Vast Shadow"/>
            </a:endParaRPr>
          </a:p>
          <a:p>
            <a:pPr marL="0" lvl="0" indent="0" algn="ctr">
              <a:lnSpc>
                <a:spcPts val="1679"/>
              </a:lnSpc>
              <a:spcBef>
                <a:spcPct val="0"/>
              </a:spcBef>
            </a:pPr>
            <a:endParaRPr lang="en-US" sz="2299">
              <a:solidFill>
                <a:srgbClr val="000000"/>
              </a:solidFill>
              <a:latin typeface="Vast Shadow"/>
              <a:ea typeface="Vast Shadow"/>
              <a:cs typeface="Vast Shadow"/>
              <a:sym typeface="Vast Shadow"/>
            </a:endParaRPr>
          </a:p>
          <a:p>
            <a:pPr marL="0" lvl="0" indent="0" algn="ctr">
              <a:lnSpc>
                <a:spcPts val="1679"/>
              </a:lnSpc>
              <a:spcBef>
                <a:spcPct val="0"/>
              </a:spcBef>
            </a:pPr>
            <a:endParaRPr lang="en-US" sz="2299">
              <a:solidFill>
                <a:srgbClr val="000000"/>
              </a:solidFill>
              <a:latin typeface="Vast Shadow"/>
              <a:ea typeface="Vast Shadow"/>
              <a:cs typeface="Vast Shadow"/>
              <a:sym typeface="Vast Shadow"/>
            </a:endParaRPr>
          </a:p>
          <a:p>
            <a:pPr marL="0" lvl="0" indent="0" algn="ctr">
              <a:lnSpc>
                <a:spcPts val="1679"/>
              </a:lnSpc>
              <a:spcBef>
                <a:spcPct val="0"/>
              </a:spcBef>
            </a:pPr>
            <a:endParaRPr lang="en-US" sz="2299">
              <a:solidFill>
                <a:srgbClr val="000000"/>
              </a:solidFill>
              <a:latin typeface="Vast Shadow"/>
              <a:ea typeface="Vast Shadow"/>
              <a:cs typeface="Vast Shadow"/>
              <a:sym typeface="Vast Shadow"/>
            </a:endParaRPr>
          </a:p>
          <a:p>
            <a:pPr marL="0" lvl="0" indent="0" algn="ctr">
              <a:lnSpc>
                <a:spcPts val="1679"/>
              </a:lnSpc>
              <a:spcBef>
                <a:spcPct val="0"/>
              </a:spcBef>
            </a:pPr>
            <a:endParaRPr lang="en-US" sz="2299">
              <a:solidFill>
                <a:srgbClr val="000000"/>
              </a:solidFill>
              <a:latin typeface="Vast Shadow"/>
              <a:ea typeface="Vast Shadow"/>
              <a:cs typeface="Vast Shadow"/>
              <a:sym typeface="Vast Shadow"/>
            </a:endParaRPr>
          </a:p>
          <a:p>
            <a:pPr marL="0" lvl="0" indent="0" algn="ctr">
              <a:lnSpc>
                <a:spcPts val="1679"/>
              </a:lnSpc>
              <a:spcBef>
                <a:spcPct val="0"/>
              </a:spcBef>
            </a:pPr>
            <a:endParaRPr lang="en-US" sz="2299">
              <a:solidFill>
                <a:srgbClr val="000000"/>
              </a:solidFill>
              <a:latin typeface="Vast Shadow"/>
              <a:ea typeface="Vast Shadow"/>
              <a:cs typeface="Vast Shadow"/>
              <a:sym typeface="Vast Shadow"/>
            </a:endParaRPr>
          </a:p>
          <a:p>
            <a:pPr marL="0" lvl="0" indent="0" algn="ctr">
              <a:lnSpc>
                <a:spcPts val="1679"/>
              </a:lnSpc>
              <a:spcBef>
                <a:spcPct val="0"/>
              </a:spcBef>
            </a:pPr>
            <a:endParaRPr lang="en-US" sz="2299">
              <a:solidFill>
                <a:srgbClr val="000000"/>
              </a:solidFill>
              <a:latin typeface="Vast Shadow"/>
              <a:ea typeface="Vast Shadow"/>
              <a:cs typeface="Vast Shadow"/>
              <a:sym typeface="Vast Shadow"/>
            </a:endParaRPr>
          </a:p>
          <a:p>
            <a:pPr marL="0" lvl="0" indent="0" algn="ctr">
              <a:lnSpc>
                <a:spcPts val="1679"/>
              </a:lnSpc>
              <a:spcBef>
                <a:spcPct val="0"/>
              </a:spcBef>
            </a:pPr>
            <a:endParaRPr lang="en-US" sz="2299">
              <a:solidFill>
                <a:srgbClr val="000000"/>
              </a:solidFill>
              <a:latin typeface="Vast Shadow"/>
              <a:ea typeface="Vast Shadow"/>
              <a:cs typeface="Vast Shadow"/>
              <a:sym typeface="Vast Shadow"/>
            </a:endParaRPr>
          </a:p>
          <a:p>
            <a:pPr marL="0" lvl="0" indent="0" algn="ctr">
              <a:lnSpc>
                <a:spcPts val="1679"/>
              </a:lnSpc>
              <a:spcBef>
                <a:spcPct val="0"/>
              </a:spcBef>
            </a:pPr>
            <a:endParaRPr lang="en-US" sz="2299">
              <a:solidFill>
                <a:srgbClr val="000000"/>
              </a:solidFill>
              <a:latin typeface="Vast Shadow"/>
              <a:ea typeface="Vast Shadow"/>
              <a:cs typeface="Vast Shadow"/>
              <a:sym typeface="Vast Shadow"/>
            </a:endParaRPr>
          </a:p>
          <a:p>
            <a:pPr marL="0" lvl="0" indent="0" algn="ctr">
              <a:lnSpc>
                <a:spcPts val="1679"/>
              </a:lnSpc>
              <a:spcBef>
                <a:spcPct val="0"/>
              </a:spcBef>
            </a:pPr>
            <a:endParaRPr lang="en-US" sz="2299">
              <a:solidFill>
                <a:srgbClr val="000000"/>
              </a:solidFill>
              <a:latin typeface="Vast Shadow"/>
              <a:ea typeface="Vast Shadow"/>
              <a:cs typeface="Vast Shadow"/>
              <a:sym typeface="Vast Shadow"/>
            </a:endParaRPr>
          </a:p>
          <a:p>
            <a:pPr marL="0" lvl="0" indent="0" algn="ctr">
              <a:lnSpc>
                <a:spcPts val="1679"/>
              </a:lnSpc>
              <a:spcBef>
                <a:spcPct val="0"/>
              </a:spcBef>
            </a:pPr>
            <a:endParaRPr lang="en-US" sz="2299">
              <a:solidFill>
                <a:srgbClr val="000000"/>
              </a:solidFill>
              <a:latin typeface="Vast Shadow"/>
              <a:ea typeface="Vast Shadow"/>
              <a:cs typeface="Vast Shadow"/>
              <a:sym typeface="Vast Shadow"/>
            </a:endParaRPr>
          </a:p>
          <a:p>
            <a:pPr marL="0" lvl="0" indent="0" algn="ctr">
              <a:lnSpc>
                <a:spcPts val="1679"/>
              </a:lnSpc>
              <a:spcBef>
                <a:spcPct val="0"/>
              </a:spcBef>
            </a:pPr>
            <a:endParaRPr lang="en-US" sz="2299">
              <a:solidFill>
                <a:srgbClr val="000000"/>
              </a:solidFill>
              <a:latin typeface="Vast Shadow"/>
              <a:ea typeface="Vast Shadow"/>
              <a:cs typeface="Vast Shadow"/>
              <a:sym typeface="Vast Shadow"/>
            </a:endParaRPr>
          </a:p>
          <a:p>
            <a:pPr marL="0" lvl="0" indent="0" algn="ctr">
              <a:lnSpc>
                <a:spcPts val="1679"/>
              </a:lnSpc>
              <a:spcBef>
                <a:spcPct val="0"/>
              </a:spcBef>
            </a:pPr>
            <a:endParaRPr lang="en-US" sz="2299">
              <a:solidFill>
                <a:srgbClr val="000000"/>
              </a:solidFill>
              <a:latin typeface="Vast Shadow"/>
              <a:ea typeface="Vast Shadow"/>
              <a:cs typeface="Vast Shadow"/>
              <a:sym typeface="Vast Shadow"/>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EDEC"/>
        </a:solidFill>
        <a:effectLst/>
      </p:bgPr>
    </p:bg>
    <p:spTree>
      <p:nvGrpSpPr>
        <p:cNvPr id="1" name=""/>
        <p:cNvGrpSpPr/>
        <p:nvPr/>
      </p:nvGrpSpPr>
      <p:grpSpPr>
        <a:xfrm>
          <a:off x="0" y="0"/>
          <a:ext cx="0" cy="0"/>
          <a:chOff x="0" y="0"/>
          <a:chExt cx="0" cy="0"/>
        </a:xfrm>
      </p:grpSpPr>
      <p:grpSp>
        <p:nvGrpSpPr>
          <p:cNvPr id="2" name="Group 2"/>
          <p:cNvGrpSpPr/>
          <p:nvPr/>
        </p:nvGrpSpPr>
        <p:grpSpPr>
          <a:xfrm>
            <a:off x="7600950" y="3600450"/>
            <a:ext cx="3086100" cy="308610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5283"/>
            </a:solidFill>
          </p:spPr>
          <p:txBody>
            <a:bodyPr/>
            <a:lstStyle/>
            <a:p>
              <a:endParaRPr lang="en-IN"/>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7753350" y="3752850"/>
            <a:ext cx="3086100" cy="308610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5283"/>
            </a:solidFill>
          </p:spPr>
          <p:txBody>
            <a:bodyPr/>
            <a:lstStyle/>
            <a:p>
              <a:endParaRPr lang="en-IN"/>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13084" y="2216616"/>
            <a:ext cx="18074916" cy="7229508"/>
            <a:chOff x="0" y="0"/>
            <a:chExt cx="1812599" cy="724994"/>
          </a:xfrm>
        </p:grpSpPr>
        <p:sp>
          <p:nvSpPr>
            <p:cNvPr id="9" name="Freeform 9"/>
            <p:cNvSpPr/>
            <p:nvPr/>
          </p:nvSpPr>
          <p:spPr>
            <a:xfrm>
              <a:off x="0" y="0"/>
              <a:ext cx="1812599" cy="724994"/>
            </a:xfrm>
            <a:custGeom>
              <a:avLst/>
              <a:gdLst/>
              <a:ahLst/>
              <a:cxnLst/>
              <a:rect l="l" t="t" r="r" b="b"/>
              <a:pathLst>
                <a:path w="1812599" h="724994">
                  <a:moveTo>
                    <a:pt x="906300" y="0"/>
                  </a:moveTo>
                  <a:cubicBezTo>
                    <a:pt x="405764" y="0"/>
                    <a:pt x="0" y="162295"/>
                    <a:pt x="0" y="362497"/>
                  </a:cubicBezTo>
                  <a:cubicBezTo>
                    <a:pt x="0" y="562698"/>
                    <a:pt x="405764" y="724994"/>
                    <a:pt x="906300" y="724994"/>
                  </a:cubicBezTo>
                  <a:cubicBezTo>
                    <a:pt x="1406835" y="724994"/>
                    <a:pt x="1812599" y="562698"/>
                    <a:pt x="1812599" y="362497"/>
                  </a:cubicBezTo>
                  <a:cubicBezTo>
                    <a:pt x="1812599" y="162295"/>
                    <a:pt x="1406835" y="0"/>
                    <a:pt x="906300" y="0"/>
                  </a:cubicBezTo>
                  <a:close/>
                </a:path>
              </a:pathLst>
            </a:custGeom>
            <a:gradFill rotWithShape="1">
              <a:gsLst>
                <a:gs pos="0">
                  <a:srgbClr val="FFF7AD">
                    <a:alpha val="100000"/>
                  </a:srgbClr>
                </a:gs>
                <a:gs pos="100000">
                  <a:srgbClr val="FFA9F9">
                    <a:alpha val="100000"/>
                  </a:srgbClr>
                </a:gs>
              </a:gsLst>
              <a:lin ang="0"/>
            </a:gradFill>
          </p:spPr>
          <p:txBody>
            <a:bodyPr/>
            <a:lstStyle/>
            <a:p>
              <a:endParaRPr lang="en-IN"/>
            </a:p>
          </p:txBody>
        </p:sp>
        <p:sp>
          <p:nvSpPr>
            <p:cNvPr id="10" name="TextBox 10"/>
            <p:cNvSpPr txBox="1"/>
            <p:nvPr/>
          </p:nvSpPr>
          <p:spPr>
            <a:xfrm>
              <a:off x="169931" y="29868"/>
              <a:ext cx="1472737" cy="627157"/>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213084" y="9417549"/>
            <a:ext cx="18074916" cy="207666"/>
          </a:xfrm>
          <a:prstGeom prst="rect">
            <a:avLst/>
          </a:prstGeom>
        </p:spPr>
        <p:txBody>
          <a:bodyPr lIns="0" tIns="0" rIns="0" bIns="0" rtlCol="0" anchor="t">
            <a:spAutoFit/>
          </a:bodyPr>
          <a:lstStyle/>
          <a:p>
            <a:pPr marL="0" lvl="0" indent="0" algn="ctr">
              <a:lnSpc>
                <a:spcPts val="1679"/>
              </a:lnSpc>
              <a:spcBef>
                <a:spcPct val="0"/>
              </a:spcBef>
            </a:pPr>
            <a:r>
              <a:rPr lang="en-US" sz="1200" u="none" strike="noStrike">
                <a:solidFill>
                  <a:srgbClr val="000000"/>
                </a:solidFill>
                <a:latin typeface="Chromium One"/>
                <a:ea typeface="Chromium One"/>
                <a:cs typeface="Chromium One"/>
                <a:sym typeface="Chromium One"/>
              </a:rPr>
              <a:t>Chromium One</a:t>
            </a:r>
          </a:p>
        </p:txBody>
      </p:sp>
      <p:sp>
        <p:nvSpPr>
          <p:cNvPr id="12" name="TextBox 12"/>
          <p:cNvSpPr txBox="1"/>
          <p:nvPr/>
        </p:nvSpPr>
        <p:spPr>
          <a:xfrm>
            <a:off x="3615243" y="-30959"/>
            <a:ext cx="12533488" cy="1900243"/>
          </a:xfrm>
          <a:prstGeom prst="rect">
            <a:avLst/>
          </a:prstGeom>
        </p:spPr>
        <p:txBody>
          <a:bodyPr lIns="0" tIns="0" rIns="0" bIns="0" rtlCol="0" anchor="t">
            <a:spAutoFit/>
          </a:bodyPr>
          <a:lstStyle/>
          <a:p>
            <a:pPr marL="0" lvl="0" indent="0" algn="ctr">
              <a:lnSpc>
                <a:spcPts val="15484"/>
              </a:lnSpc>
              <a:spcBef>
                <a:spcPct val="0"/>
              </a:spcBef>
            </a:pPr>
            <a:r>
              <a:rPr lang="en-US" sz="11060">
                <a:solidFill>
                  <a:srgbClr val="000000"/>
                </a:solidFill>
                <a:latin typeface="Satisfy"/>
                <a:ea typeface="Satisfy"/>
                <a:cs typeface="Satisfy"/>
                <a:sym typeface="Satisfy"/>
              </a:rPr>
              <a:t>User-Defined Functions</a:t>
            </a:r>
          </a:p>
        </p:txBody>
      </p:sp>
      <p:sp>
        <p:nvSpPr>
          <p:cNvPr id="13" name="TextBox 13"/>
          <p:cNvSpPr txBox="1"/>
          <p:nvPr/>
        </p:nvSpPr>
        <p:spPr>
          <a:xfrm>
            <a:off x="1700064" y="2024520"/>
            <a:ext cx="14887873" cy="9091176"/>
          </a:xfrm>
          <a:prstGeom prst="rect">
            <a:avLst/>
          </a:prstGeom>
        </p:spPr>
        <p:txBody>
          <a:bodyPr lIns="0" tIns="0" rIns="0" bIns="0" rtlCol="0" anchor="t">
            <a:spAutoFit/>
          </a:bodyPr>
          <a:lstStyle/>
          <a:p>
            <a:pPr marL="1017712" lvl="1" indent="-508856" algn="l">
              <a:lnSpc>
                <a:spcPts val="6599"/>
              </a:lnSpc>
              <a:buFont typeface="Arial"/>
              <a:buChar char="•"/>
            </a:pPr>
            <a:r>
              <a:rPr lang="en-US" sz="4713" b="1">
                <a:solidFill>
                  <a:srgbClr val="000000"/>
                </a:solidFill>
                <a:latin typeface="Flow Bold"/>
                <a:ea typeface="Flow Bold"/>
                <a:cs typeface="Flow Bold"/>
                <a:sym typeface="Flow Bold"/>
              </a:rPr>
              <a:t>draw_text: Creating a text box and writing text in it. </a:t>
            </a:r>
          </a:p>
          <a:p>
            <a:pPr marL="1017712" lvl="1" indent="-508856" algn="l">
              <a:lnSpc>
                <a:spcPts val="6599"/>
              </a:lnSpc>
              <a:buFont typeface="Arial"/>
              <a:buChar char="•"/>
            </a:pPr>
            <a:r>
              <a:rPr lang="en-US" sz="4713" b="1">
                <a:solidFill>
                  <a:srgbClr val="000000"/>
                </a:solidFill>
                <a:latin typeface="Flow Bold"/>
                <a:ea typeface="Flow Bold"/>
                <a:cs typeface="Flow Bold"/>
                <a:sym typeface="Flow Bold"/>
              </a:rPr>
              <a:t>show_window: Display window with title and subtext.</a:t>
            </a:r>
          </a:p>
          <a:p>
            <a:pPr marL="1017712" lvl="1" indent="-508856" algn="l">
              <a:lnSpc>
                <a:spcPts val="6599"/>
              </a:lnSpc>
              <a:buFont typeface="Arial"/>
              <a:buChar char="•"/>
            </a:pPr>
            <a:r>
              <a:rPr lang="en-US" sz="4713" b="1">
                <a:solidFill>
                  <a:srgbClr val="000000"/>
                </a:solidFill>
                <a:latin typeface="Flow Bold"/>
                <a:ea typeface="Flow Bold"/>
                <a:cs typeface="Flow Bold"/>
                <a:sym typeface="Flow Bold"/>
              </a:rPr>
              <a:t>draw_boxes:  Draw number boxes horizontally.</a:t>
            </a:r>
          </a:p>
          <a:p>
            <a:pPr marL="1017712" lvl="1" indent="-508856" algn="l">
              <a:lnSpc>
                <a:spcPts val="6599"/>
              </a:lnSpc>
              <a:buFont typeface="Arial"/>
              <a:buChar char="•"/>
            </a:pPr>
            <a:r>
              <a:rPr lang="en-US" sz="4713" b="1">
                <a:solidFill>
                  <a:srgbClr val="000000"/>
                </a:solidFill>
                <a:latin typeface="Flow Bold"/>
                <a:ea typeface="Flow Bold"/>
                <a:cs typeface="Flow Bold"/>
                <a:sym typeface="Flow Bold"/>
              </a:rPr>
              <a:t>intro_screen: Use above defined functions.</a:t>
            </a:r>
          </a:p>
          <a:p>
            <a:pPr marL="1017712" lvl="1" indent="-508856" algn="l">
              <a:lnSpc>
                <a:spcPts val="6599"/>
              </a:lnSpc>
              <a:buFont typeface="Arial"/>
              <a:buChar char="•"/>
            </a:pPr>
            <a:r>
              <a:rPr lang="en-US" sz="4713" b="1">
                <a:solidFill>
                  <a:srgbClr val="000000"/>
                </a:solidFill>
                <a:latin typeface="Flow Bold"/>
                <a:ea typeface="Flow Bold"/>
                <a:cs typeface="Flow Bold"/>
                <a:sym typeface="Flow Bold"/>
              </a:rPr>
              <a:t>show_instructions: </a:t>
            </a:r>
          </a:p>
          <a:p>
            <a:pPr marL="1017712" lvl="1" indent="-508856" algn="l">
              <a:lnSpc>
                <a:spcPts val="6599"/>
              </a:lnSpc>
              <a:buFont typeface="Arial"/>
              <a:buChar char="•"/>
            </a:pPr>
            <a:r>
              <a:rPr lang="en-US" sz="4713" b="1">
                <a:solidFill>
                  <a:srgbClr val="000000"/>
                </a:solidFill>
                <a:latin typeface="Flow Bold"/>
                <a:ea typeface="Flow Bold"/>
                <a:cs typeface="Flow Bold"/>
                <a:sym typeface="Flow Bold"/>
              </a:rPr>
              <a:t>show_numbers:  Show random numbers for 3 seconds.</a:t>
            </a:r>
          </a:p>
          <a:p>
            <a:pPr marL="1017712" lvl="1" indent="-508856" algn="l">
              <a:lnSpc>
                <a:spcPts val="6599"/>
              </a:lnSpc>
              <a:buFont typeface="Arial"/>
              <a:buChar char="•"/>
            </a:pPr>
            <a:r>
              <a:rPr lang="en-US" sz="4713" b="1">
                <a:solidFill>
                  <a:srgbClr val="000000"/>
                </a:solidFill>
                <a:latin typeface="Flow Bold"/>
                <a:ea typeface="Flow Bold"/>
                <a:cs typeface="Flow Bold"/>
                <a:sym typeface="Flow Bold"/>
              </a:rPr>
              <a:t>get_user_input: Ask user to type numbers shown earlier.</a:t>
            </a:r>
          </a:p>
          <a:p>
            <a:pPr marL="1017712" lvl="1" indent="-508856" algn="l">
              <a:lnSpc>
                <a:spcPts val="6599"/>
              </a:lnSpc>
              <a:buFont typeface="Arial"/>
              <a:buChar char="•"/>
            </a:pPr>
            <a:r>
              <a:rPr lang="en-US" sz="4713" b="1">
                <a:solidFill>
                  <a:srgbClr val="000000"/>
                </a:solidFill>
                <a:latin typeface="Flow Bold"/>
                <a:ea typeface="Flow Bold"/>
                <a:cs typeface="Flow Bold"/>
                <a:sym typeface="Flow Bold"/>
              </a:rPr>
              <a:t>feedback_screen:Checks whether sequence entered is right</a:t>
            </a:r>
          </a:p>
          <a:p>
            <a:pPr marL="1017712" lvl="1" indent="-508856" algn="l">
              <a:lnSpc>
                <a:spcPts val="6599"/>
              </a:lnSpc>
              <a:buFont typeface="Arial"/>
              <a:buChar char="•"/>
            </a:pPr>
            <a:r>
              <a:rPr lang="en-US" sz="4713" b="1">
                <a:solidFill>
                  <a:srgbClr val="000000"/>
                </a:solidFill>
                <a:latin typeface="Flow Bold"/>
                <a:ea typeface="Flow Bold"/>
                <a:cs typeface="Flow Bold"/>
                <a:sym typeface="Flow Bold"/>
              </a:rPr>
              <a:t>game_loop: Defined on next slide....</a:t>
            </a:r>
          </a:p>
          <a:p>
            <a:pPr marL="1017712" lvl="1" indent="-508856" algn="l">
              <a:lnSpc>
                <a:spcPts val="6599"/>
              </a:lnSpc>
              <a:buFont typeface="Arial"/>
              <a:buChar char="•"/>
            </a:pPr>
            <a:r>
              <a:rPr lang="en-US" sz="4713" b="1">
                <a:solidFill>
                  <a:srgbClr val="000000"/>
                </a:solidFill>
                <a:latin typeface="Flow Bold"/>
                <a:ea typeface="Flow Bold"/>
                <a:cs typeface="Flow Bold"/>
                <a:sym typeface="Flow Bold"/>
              </a:rPr>
              <a:t>main  :intro_screen(), game_loop()</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EDEC"/>
        </a:solidFill>
        <a:effectLst/>
      </p:bgPr>
    </p:bg>
    <p:spTree>
      <p:nvGrpSpPr>
        <p:cNvPr id="1" name=""/>
        <p:cNvGrpSpPr/>
        <p:nvPr/>
      </p:nvGrpSpPr>
      <p:grpSpPr>
        <a:xfrm>
          <a:off x="0" y="0"/>
          <a:ext cx="0" cy="0"/>
          <a:chOff x="0" y="0"/>
          <a:chExt cx="0" cy="0"/>
        </a:xfrm>
      </p:grpSpPr>
      <p:sp>
        <p:nvSpPr>
          <p:cNvPr id="2" name="TextBox 2"/>
          <p:cNvSpPr txBox="1"/>
          <p:nvPr/>
        </p:nvSpPr>
        <p:spPr>
          <a:xfrm>
            <a:off x="7828570" y="8449898"/>
            <a:ext cx="2630860" cy="207666"/>
          </a:xfrm>
          <a:prstGeom prst="rect">
            <a:avLst/>
          </a:prstGeom>
        </p:spPr>
        <p:txBody>
          <a:bodyPr lIns="0" tIns="0" rIns="0" bIns="0" rtlCol="0" anchor="t">
            <a:spAutoFit/>
          </a:bodyPr>
          <a:lstStyle/>
          <a:p>
            <a:pPr marL="0" lvl="0" indent="0" algn="ctr">
              <a:lnSpc>
                <a:spcPts val="1679"/>
              </a:lnSpc>
              <a:spcBef>
                <a:spcPct val="0"/>
              </a:spcBef>
            </a:pPr>
            <a:r>
              <a:rPr lang="en-US" sz="1200" u="none" strike="noStrike">
                <a:solidFill>
                  <a:srgbClr val="000000"/>
                </a:solidFill>
                <a:latin typeface="Chromium One"/>
                <a:ea typeface="Chromium One"/>
                <a:cs typeface="Chromium One"/>
                <a:sym typeface="Chromium One"/>
              </a:rPr>
              <a:t>Chromium One</a:t>
            </a:r>
          </a:p>
        </p:txBody>
      </p:sp>
      <p:sp>
        <p:nvSpPr>
          <p:cNvPr id="3" name="TextBox 3"/>
          <p:cNvSpPr txBox="1"/>
          <p:nvPr/>
        </p:nvSpPr>
        <p:spPr>
          <a:xfrm>
            <a:off x="-7096083" y="352010"/>
            <a:ext cx="31820354" cy="1881902"/>
          </a:xfrm>
          <a:prstGeom prst="rect">
            <a:avLst/>
          </a:prstGeom>
        </p:spPr>
        <p:txBody>
          <a:bodyPr lIns="0" tIns="0" rIns="0" bIns="0" rtlCol="0" anchor="t">
            <a:spAutoFit/>
          </a:bodyPr>
          <a:lstStyle/>
          <a:p>
            <a:pPr marL="0" lvl="0" indent="0" algn="ctr">
              <a:lnSpc>
                <a:spcPts val="14925"/>
              </a:lnSpc>
              <a:spcBef>
                <a:spcPct val="0"/>
              </a:spcBef>
            </a:pPr>
            <a:r>
              <a:rPr lang="en-US" sz="10661">
                <a:solidFill>
                  <a:srgbClr val="000000"/>
                </a:solidFill>
                <a:latin typeface="Chromium One"/>
                <a:ea typeface="Chromium One"/>
                <a:cs typeface="Chromium One"/>
                <a:sym typeface="Chromium One"/>
              </a:rPr>
              <a:t>........</a:t>
            </a:r>
            <a:r>
              <a:rPr lang="en-US" sz="10661" u="none" strike="noStrike">
                <a:solidFill>
                  <a:srgbClr val="000000"/>
                </a:solidFill>
                <a:latin typeface="Chromium One"/>
                <a:ea typeface="Chromium One"/>
                <a:cs typeface="Chromium One"/>
                <a:sym typeface="Chromium One"/>
              </a:rPr>
              <a:t>CONCLUSION.........</a:t>
            </a:r>
          </a:p>
        </p:txBody>
      </p:sp>
      <p:sp>
        <p:nvSpPr>
          <p:cNvPr id="4" name="TextBox 4"/>
          <p:cNvSpPr txBox="1"/>
          <p:nvPr/>
        </p:nvSpPr>
        <p:spPr>
          <a:xfrm>
            <a:off x="282342" y="3269360"/>
            <a:ext cx="17643098" cy="7221683"/>
          </a:xfrm>
          <a:prstGeom prst="rect">
            <a:avLst/>
          </a:prstGeom>
        </p:spPr>
        <p:txBody>
          <a:bodyPr lIns="0" tIns="0" rIns="0" bIns="0" rtlCol="0" anchor="t">
            <a:spAutoFit/>
          </a:bodyPr>
          <a:lstStyle/>
          <a:p>
            <a:pPr algn="ctr">
              <a:lnSpc>
                <a:spcPts val="6599"/>
              </a:lnSpc>
            </a:pPr>
            <a:r>
              <a:rPr lang="en-US" sz="4713" b="1">
                <a:solidFill>
                  <a:srgbClr val="000000"/>
                </a:solidFill>
                <a:latin typeface="Flow Bold"/>
                <a:ea typeface="Flow Bold"/>
                <a:cs typeface="Flow Bold"/>
                <a:sym typeface="Flow Bold"/>
              </a:rPr>
              <a:t>This project successfully implements a clean, interactive memory challenge game using Python and Pygame. It demonstrates several programming principles including event handling, GUI rendering, modular design, and data structure usage. </a:t>
            </a:r>
          </a:p>
          <a:p>
            <a:pPr algn="ctr">
              <a:lnSpc>
                <a:spcPts val="6599"/>
              </a:lnSpc>
            </a:pPr>
            <a:r>
              <a:rPr lang="en-US" sz="4713" b="1">
                <a:solidFill>
                  <a:srgbClr val="000000"/>
                </a:solidFill>
                <a:latin typeface="Flow Bold"/>
                <a:ea typeface="Flow Bold"/>
                <a:cs typeface="Flow Bold"/>
                <a:sym typeface="Flow Bold"/>
              </a:rPr>
              <a:t>The game is simple yet effective at testing short-term memory and offers a polished user experience.</a:t>
            </a:r>
          </a:p>
          <a:p>
            <a:pPr algn="ctr">
              <a:lnSpc>
                <a:spcPts val="6599"/>
              </a:lnSpc>
            </a:pPr>
            <a:r>
              <a:rPr lang="en-US" sz="4713" b="1">
                <a:solidFill>
                  <a:srgbClr val="000000"/>
                </a:solidFill>
                <a:latin typeface="Flow Bold"/>
                <a:ea typeface="Flow Bold"/>
                <a:cs typeface="Flow Bold"/>
                <a:sym typeface="Flow Bold"/>
              </a:rPr>
              <a:t>The modular nature also makes it easy to add new features, store high scores, or change the theme entirely.</a:t>
            </a:r>
          </a:p>
          <a:p>
            <a:pPr marL="0" lvl="0" indent="0" algn="ctr">
              <a:lnSpc>
                <a:spcPts val="4775"/>
              </a:lnSpc>
              <a:spcBef>
                <a:spcPct val="0"/>
              </a:spcBef>
            </a:pPr>
            <a:endParaRPr lang="en-US" sz="4713" b="1">
              <a:solidFill>
                <a:srgbClr val="000000"/>
              </a:solidFill>
              <a:latin typeface="Flow Bold"/>
              <a:ea typeface="Flow Bold"/>
              <a:cs typeface="Flow Bold"/>
              <a:sym typeface="Flow Bold"/>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642</Words>
  <Application>Microsoft Office PowerPoint</Application>
  <PresentationFormat>Custom</PresentationFormat>
  <Paragraphs>117</Paragraphs>
  <Slides>9</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9</vt:i4>
      </vt:variant>
    </vt:vector>
  </HeadingPairs>
  <TitlesOfParts>
    <vt:vector size="20" baseType="lpstr">
      <vt:lpstr>Satisfy</vt:lpstr>
      <vt:lpstr>Canva Sans Bold</vt:lpstr>
      <vt:lpstr>Flow Bold</vt:lpstr>
      <vt:lpstr>Calibri</vt:lpstr>
      <vt:lpstr>Flow</vt:lpstr>
      <vt:lpstr>Vast Shadow</vt:lpstr>
      <vt:lpstr>Canva Sans</vt:lpstr>
      <vt:lpstr>Chromium One</vt:lpstr>
      <vt:lpstr>Arial</vt:lpstr>
      <vt:lpstr>Canva Sans Bold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REPORT</dc:title>
  <cp:lastModifiedBy>Ishika Agarwal</cp:lastModifiedBy>
  <cp:revision>2</cp:revision>
  <dcterms:created xsi:type="dcterms:W3CDTF">2006-08-16T00:00:00Z</dcterms:created>
  <dcterms:modified xsi:type="dcterms:W3CDTF">2026-05-11T16:08:52Z</dcterms:modified>
  <dc:identifier>DAG4sQFfVd4</dc:identifier>
</cp:coreProperties>
</file>